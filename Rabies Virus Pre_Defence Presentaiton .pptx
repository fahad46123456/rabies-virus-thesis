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0" r:id="rId10"/>
    <p:sldId id="274" r:id="rId11"/>
    <p:sldId id="275" r:id="rId12"/>
    <p:sldId id="263" r:id="rId13"/>
    <p:sldId id="273" r:id="rId14"/>
    <p:sldId id="276" r:id="rId15"/>
    <p:sldId id="277" r:id="rId16"/>
    <p:sldId id="278" r:id="rId17"/>
    <p:sldId id="279" r:id="rId18"/>
    <p:sldId id="264" r:id="rId19"/>
    <p:sldId id="268" r:id="rId20"/>
    <p:sldId id="269" r:id="rId21"/>
    <p:sldId id="265" r:id="rId22"/>
    <p:sldId id="266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9CF93-BDB0-4062-A721-C247A4C22C93}" v="3" dt="2026-01-23T08:47:02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Al Fahad Anik" userId="1e0718566bc73e87" providerId="LiveId" clId="{A46F0F4F-4155-46B5-8F42-D77CF52EB70D}"/>
    <pc:docChg chg="undo custSel modSld">
      <pc:chgData name="Abdullah Al Fahad Anik" userId="1e0718566bc73e87" providerId="LiveId" clId="{A46F0F4F-4155-46B5-8F42-D77CF52EB70D}" dt="2026-01-22T13:51:03.501" v="18" actId="14100"/>
      <pc:docMkLst>
        <pc:docMk/>
      </pc:docMkLst>
      <pc:sldChg chg="modSp mod">
        <pc:chgData name="Abdullah Al Fahad Anik" userId="1e0718566bc73e87" providerId="LiveId" clId="{A46F0F4F-4155-46B5-8F42-D77CF52EB70D}" dt="2026-01-22T13:51:03.501" v="18" actId="14100"/>
        <pc:sldMkLst>
          <pc:docMk/>
          <pc:sldMk cId="3362044577" sldId="262"/>
        </pc:sldMkLst>
        <pc:picChg chg="mod">
          <ac:chgData name="Abdullah Al Fahad Anik" userId="1e0718566bc73e87" providerId="LiveId" clId="{A46F0F4F-4155-46B5-8F42-D77CF52EB70D}" dt="2026-01-22T13:51:03.501" v="18" actId="14100"/>
          <ac:picMkLst>
            <pc:docMk/>
            <pc:sldMk cId="3362044577" sldId="262"/>
            <ac:picMk id="12" creationId="{39A11033-FCAD-1705-5900-DAA16DA15138}"/>
          </ac:picMkLst>
        </pc:picChg>
      </pc:sldChg>
      <pc:sldChg chg="addSp delSp modSp mod">
        <pc:chgData name="Abdullah Al Fahad Anik" userId="1e0718566bc73e87" providerId="LiveId" clId="{A46F0F4F-4155-46B5-8F42-D77CF52EB70D}" dt="2026-01-18T03:49:54.490" v="17" actId="478"/>
        <pc:sldMkLst>
          <pc:docMk/>
          <pc:sldMk cId="409427518" sldId="263"/>
        </pc:sldMkLst>
      </pc:sldChg>
      <pc:sldChg chg="modSp mod">
        <pc:chgData name="Abdullah Al Fahad Anik" userId="1e0718566bc73e87" providerId="LiveId" clId="{A46F0F4F-4155-46B5-8F42-D77CF52EB70D}" dt="2026-01-18T03:48:06.826" v="13" actId="20577"/>
        <pc:sldMkLst>
          <pc:docMk/>
          <pc:sldMk cId="1333603041" sldId="265"/>
        </pc:sldMkLst>
        <pc:spChg chg="mod">
          <ac:chgData name="Abdullah Al Fahad Anik" userId="1e0718566bc73e87" providerId="LiveId" clId="{A46F0F4F-4155-46B5-8F42-D77CF52EB70D}" dt="2026-01-18T03:48:06.826" v="13" actId="20577"/>
          <ac:spMkLst>
            <pc:docMk/>
            <pc:sldMk cId="1333603041" sldId="265"/>
            <ac:spMk id="3" creationId="{00000000-0000-0000-0000-000000000000}"/>
          </ac:spMkLst>
        </pc:spChg>
      </pc:sldChg>
      <pc:sldChg chg="modSp mod">
        <pc:chgData name="Abdullah Al Fahad Anik" userId="1e0718566bc73e87" providerId="LiveId" clId="{A46F0F4F-4155-46B5-8F42-D77CF52EB70D}" dt="2026-01-18T03:42:07.483" v="5" actId="1076"/>
        <pc:sldMkLst>
          <pc:docMk/>
          <pc:sldMk cId="12806769" sldId="275"/>
        </pc:sldMkLst>
        <pc:spChg chg="mod">
          <ac:chgData name="Abdullah Al Fahad Anik" userId="1e0718566bc73e87" providerId="LiveId" clId="{A46F0F4F-4155-46B5-8F42-D77CF52EB70D}" dt="2026-01-18T03:42:02.314" v="4" actId="1076"/>
          <ac:spMkLst>
            <pc:docMk/>
            <pc:sldMk cId="12806769" sldId="275"/>
            <ac:spMk id="6" creationId="{36847105-5526-B19C-CD08-02789436C655}"/>
          </ac:spMkLst>
        </pc:spChg>
        <pc:picChg chg="mod">
          <ac:chgData name="Abdullah Al Fahad Anik" userId="1e0718566bc73e87" providerId="LiveId" clId="{A46F0F4F-4155-46B5-8F42-D77CF52EB70D}" dt="2026-01-18T03:42:07.483" v="5" actId="1076"/>
          <ac:picMkLst>
            <pc:docMk/>
            <pc:sldMk cId="12806769" sldId="275"/>
            <ac:picMk id="2050" creationId="{BA85347F-1E5D-47F3-D4AD-1A86FDFFA543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0EEB7C-1901-4C47-8036-B3DC2EEA14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336974-B3B6-46E0-B2BD-603C62A251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graph shows the </a:t>
          </a:r>
          <a:r>
            <a:rPr lang="en-US" b="1" dirty="0"/>
            <a:t>trends of rabies control measures over time</a:t>
          </a:r>
          <a:r>
            <a:rPr lang="en-US" dirty="0"/>
            <a:t> with three different variables:</a:t>
          </a:r>
        </a:p>
      </dgm:t>
    </dgm:pt>
    <dgm:pt modelId="{4A58EF27-5E40-4A0B-A622-D6DB340B6C7B}" type="parTrans" cxnId="{9D8D4555-6D7C-43B2-A5C9-7CCC2436483A}">
      <dgm:prSet/>
      <dgm:spPr/>
      <dgm:t>
        <a:bodyPr/>
        <a:lstStyle/>
        <a:p>
          <a:endParaRPr lang="en-US"/>
        </a:p>
      </dgm:t>
    </dgm:pt>
    <dgm:pt modelId="{AD977DD7-789D-46E3-AA97-2EF58956E726}" type="sibTrans" cxnId="{9D8D4555-6D7C-43B2-A5C9-7CCC2436483A}">
      <dgm:prSet/>
      <dgm:spPr/>
      <dgm:t>
        <a:bodyPr/>
        <a:lstStyle/>
        <a:p>
          <a:endParaRPr lang="en-US"/>
        </a:p>
      </dgm:t>
    </dgm:pt>
    <dgm:pt modelId="{BF2B1E67-7999-4E39-9833-EA37C28DA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Dogs Vaccinated</a:t>
          </a:r>
          <a:r>
            <a:rPr lang="en-US"/>
            <a:t> (Blue Line): This line represents the number of </a:t>
          </a:r>
          <a:r>
            <a:rPr lang="en-US" b="1"/>
            <a:t>dogs vaccinated</a:t>
          </a:r>
          <a:r>
            <a:rPr lang="en-US"/>
            <a:t> over the years. The trend shows sharp increases in vaccination efforts, particularly around certain years.</a:t>
          </a:r>
        </a:p>
      </dgm:t>
    </dgm:pt>
    <dgm:pt modelId="{DE5E919C-9839-44CC-A27C-C11FB7FD304F}" type="parTrans" cxnId="{A33A899E-FC71-42A1-B8CF-BC7BF380AA08}">
      <dgm:prSet/>
      <dgm:spPr/>
      <dgm:t>
        <a:bodyPr/>
        <a:lstStyle/>
        <a:p>
          <a:endParaRPr lang="en-US"/>
        </a:p>
      </dgm:t>
    </dgm:pt>
    <dgm:pt modelId="{076E49A0-F053-4719-ABCA-0633FB674D60}" type="sibTrans" cxnId="{A33A899E-FC71-42A1-B8CF-BC7BF380AA08}">
      <dgm:prSet/>
      <dgm:spPr/>
      <dgm:t>
        <a:bodyPr/>
        <a:lstStyle/>
        <a:p>
          <a:endParaRPr lang="en-US"/>
        </a:p>
      </dgm:t>
    </dgm:pt>
    <dgm:pt modelId="{B0A56789-820F-4DB8-B00B-EE00C80106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Human Rabies Cases</a:t>
          </a:r>
          <a:r>
            <a:rPr lang="en-US" dirty="0">
              <a:solidFill>
                <a:schemeClr val="bg1"/>
              </a:solidFill>
            </a:rPr>
            <a:t> (Orange Line): This line represents the number of </a:t>
          </a:r>
          <a:r>
            <a:rPr lang="en-US" b="1" dirty="0">
              <a:solidFill>
                <a:schemeClr val="bg1"/>
              </a:solidFill>
            </a:rPr>
            <a:t>human rabies cases</a:t>
          </a:r>
          <a:r>
            <a:rPr lang="en-US" dirty="0">
              <a:solidFill>
                <a:schemeClr val="bg1"/>
              </a:solidFill>
            </a:rPr>
            <a:t> over time. The data is relatively flat, indicating low numbers of human rabies cases, with only a few spikes in certain years.</a:t>
          </a:r>
        </a:p>
      </dgm:t>
    </dgm:pt>
    <dgm:pt modelId="{499DE2EC-35E0-4423-81B6-0E81AFA2F33A}" type="parTrans" cxnId="{081E35C8-1553-4DEC-B530-86FA134016E5}">
      <dgm:prSet/>
      <dgm:spPr/>
      <dgm:t>
        <a:bodyPr/>
        <a:lstStyle/>
        <a:p>
          <a:endParaRPr lang="en-US"/>
        </a:p>
      </dgm:t>
    </dgm:pt>
    <dgm:pt modelId="{F9949471-B868-4CDE-935D-02F3919B315C}" type="sibTrans" cxnId="{081E35C8-1553-4DEC-B530-86FA134016E5}">
      <dgm:prSet/>
      <dgm:spPr/>
      <dgm:t>
        <a:bodyPr/>
        <a:lstStyle/>
        <a:p>
          <a:endParaRPr lang="en-US"/>
        </a:p>
      </dgm:t>
    </dgm:pt>
    <dgm:pt modelId="{3CD2984C-8FB0-4A4A-8AFC-017A6BAE38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ARV Used</a:t>
          </a:r>
          <a:r>
            <a:rPr lang="en-US" dirty="0"/>
            <a:t> (Green Line): This line indicates the number of </a:t>
          </a:r>
          <a:r>
            <a:rPr lang="en-US" b="1" dirty="0"/>
            <a:t>anti-rabies vaccines (ARV)</a:t>
          </a:r>
          <a:r>
            <a:rPr lang="en-US" dirty="0"/>
            <a:t> used over the years. Similar to the vaccination data, this shows significant increases at certain points in time.</a:t>
          </a:r>
        </a:p>
      </dgm:t>
    </dgm:pt>
    <dgm:pt modelId="{93783460-0116-4E3C-8331-DF54DC847B5F}" type="parTrans" cxnId="{09A4E65B-ED4C-4CD8-8AD2-F729B9856915}">
      <dgm:prSet/>
      <dgm:spPr/>
      <dgm:t>
        <a:bodyPr/>
        <a:lstStyle/>
        <a:p>
          <a:endParaRPr lang="en-US"/>
        </a:p>
      </dgm:t>
    </dgm:pt>
    <dgm:pt modelId="{C4D477A8-45CD-46C6-B18C-60BDA7067FC1}" type="sibTrans" cxnId="{09A4E65B-ED4C-4CD8-8AD2-F729B9856915}">
      <dgm:prSet/>
      <dgm:spPr/>
      <dgm:t>
        <a:bodyPr/>
        <a:lstStyle/>
        <a:p>
          <a:endParaRPr lang="en-US"/>
        </a:p>
      </dgm:t>
    </dgm:pt>
    <dgm:pt modelId="{E22CA7E4-4576-47A9-9188-3384611AD942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Dog vaccinations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and </a:t>
          </a:r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ARV usage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both show increasing trends, suggesting that vaccination programs and treatment efforts have been ramped up over time.</a:t>
          </a:r>
        </a:p>
      </dgm:t>
    </dgm:pt>
    <dgm:pt modelId="{0AA70166-4FBB-4229-BF1E-50D2EEB24BD1}" type="parTrans" cxnId="{3C7BDEF4-F692-40CE-9E61-39E60DC936EA}">
      <dgm:prSet/>
      <dgm:spPr/>
      <dgm:t>
        <a:bodyPr/>
        <a:lstStyle/>
        <a:p>
          <a:endParaRPr lang="en-US"/>
        </a:p>
      </dgm:t>
    </dgm:pt>
    <dgm:pt modelId="{5DBD6031-F1EB-460E-9733-73C192ADC94A}" type="sibTrans" cxnId="{3C7BDEF4-F692-40CE-9E61-39E60DC936EA}">
      <dgm:prSet/>
      <dgm:spPr/>
      <dgm:t>
        <a:bodyPr/>
        <a:lstStyle/>
        <a:p>
          <a:endParaRPr lang="en-US"/>
        </a:p>
      </dgm:t>
    </dgm:pt>
    <dgm:pt modelId="{9042F2F5-8AE6-40AC-A707-D213D22B0212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Human rabies cases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remain low, indicating that the interventions might be working effectively to keep the cases under control</a:t>
          </a:r>
          <a:endParaRPr lang="en-US" dirty="0">
            <a:solidFill>
              <a:schemeClr val="bg1"/>
            </a:solidFill>
          </a:endParaRPr>
        </a:p>
      </dgm:t>
    </dgm:pt>
    <dgm:pt modelId="{EB39217B-327D-4326-A121-0AE482674F89}" type="parTrans" cxnId="{4ABE236A-3180-4A3E-9373-1F632EFDA1E0}">
      <dgm:prSet/>
      <dgm:spPr/>
      <dgm:t>
        <a:bodyPr/>
        <a:lstStyle/>
        <a:p>
          <a:endParaRPr lang="en-US"/>
        </a:p>
      </dgm:t>
    </dgm:pt>
    <dgm:pt modelId="{64D9E8BB-B517-43CC-AB48-6655A7C6E3F0}" type="sibTrans" cxnId="{4ABE236A-3180-4A3E-9373-1F632EFDA1E0}">
      <dgm:prSet/>
      <dgm:spPr/>
      <dgm:t>
        <a:bodyPr/>
        <a:lstStyle/>
        <a:p>
          <a:endParaRPr lang="en-US"/>
        </a:p>
      </dgm:t>
    </dgm:pt>
    <dgm:pt modelId="{F28D7320-6C29-4738-AD66-83C8DA417652}" type="pres">
      <dgm:prSet presAssocID="{3C0EEB7C-1901-4C47-8036-B3DC2EEA1411}" presName="diagram" presStyleCnt="0">
        <dgm:presLayoutVars>
          <dgm:dir/>
          <dgm:resizeHandles val="exact"/>
        </dgm:presLayoutVars>
      </dgm:prSet>
      <dgm:spPr/>
    </dgm:pt>
    <dgm:pt modelId="{B12FCA74-5746-4C43-B209-20140B6C65B0}" type="pres">
      <dgm:prSet presAssocID="{90336974-B3B6-46E0-B2BD-603C62A251EB}" presName="node" presStyleLbl="node1" presStyleIdx="0" presStyleCnt="6">
        <dgm:presLayoutVars>
          <dgm:bulletEnabled val="1"/>
        </dgm:presLayoutVars>
      </dgm:prSet>
      <dgm:spPr/>
    </dgm:pt>
    <dgm:pt modelId="{AF2F4FED-C450-433D-8BFE-7BAF3086A7DF}" type="pres">
      <dgm:prSet presAssocID="{AD977DD7-789D-46E3-AA97-2EF58956E726}" presName="sibTrans" presStyleCnt="0"/>
      <dgm:spPr/>
    </dgm:pt>
    <dgm:pt modelId="{EB2A9801-F959-4082-AA9B-ED20197A216F}" type="pres">
      <dgm:prSet presAssocID="{BF2B1E67-7999-4E39-9833-EA37C28DA0A6}" presName="node" presStyleLbl="node1" presStyleIdx="1" presStyleCnt="6">
        <dgm:presLayoutVars>
          <dgm:bulletEnabled val="1"/>
        </dgm:presLayoutVars>
      </dgm:prSet>
      <dgm:spPr/>
    </dgm:pt>
    <dgm:pt modelId="{1160C50C-EE9A-4030-BF49-E1DD1DB4D82F}" type="pres">
      <dgm:prSet presAssocID="{076E49A0-F053-4719-ABCA-0633FB674D60}" presName="sibTrans" presStyleCnt="0"/>
      <dgm:spPr/>
    </dgm:pt>
    <dgm:pt modelId="{D60BDFD0-E899-4FCA-AFD3-6997F18B6955}" type="pres">
      <dgm:prSet presAssocID="{B0A56789-820F-4DB8-B00B-EE00C80106A3}" presName="node" presStyleLbl="node1" presStyleIdx="2" presStyleCnt="6">
        <dgm:presLayoutVars>
          <dgm:bulletEnabled val="1"/>
        </dgm:presLayoutVars>
      </dgm:prSet>
      <dgm:spPr/>
    </dgm:pt>
    <dgm:pt modelId="{4D523E49-4395-41E5-84D4-4EDF0693F4BC}" type="pres">
      <dgm:prSet presAssocID="{F9949471-B868-4CDE-935D-02F3919B315C}" presName="sibTrans" presStyleCnt="0"/>
      <dgm:spPr/>
    </dgm:pt>
    <dgm:pt modelId="{C412190E-BB05-4EB2-B88D-FE2617EECCCE}" type="pres">
      <dgm:prSet presAssocID="{3CD2984C-8FB0-4A4A-8AFC-017A6BAE385D}" presName="node" presStyleLbl="node1" presStyleIdx="3" presStyleCnt="6">
        <dgm:presLayoutVars>
          <dgm:bulletEnabled val="1"/>
        </dgm:presLayoutVars>
      </dgm:prSet>
      <dgm:spPr/>
    </dgm:pt>
    <dgm:pt modelId="{A0FEAFD8-0A26-47D0-9EB6-4660297AD7C9}" type="pres">
      <dgm:prSet presAssocID="{C4D477A8-45CD-46C6-B18C-60BDA7067FC1}" presName="sibTrans" presStyleCnt="0"/>
      <dgm:spPr/>
    </dgm:pt>
    <dgm:pt modelId="{1A958C59-9679-4DC1-84BE-D5700363E197}" type="pres">
      <dgm:prSet presAssocID="{E22CA7E4-4576-47A9-9188-3384611AD942}" presName="node" presStyleLbl="node1" presStyleIdx="4" presStyleCnt="6">
        <dgm:presLayoutVars>
          <dgm:bulletEnabled val="1"/>
        </dgm:presLayoutVars>
      </dgm:prSet>
      <dgm:spPr/>
    </dgm:pt>
    <dgm:pt modelId="{F84AB801-FBD3-4B7F-A1F0-D3EB83D67ECC}" type="pres">
      <dgm:prSet presAssocID="{5DBD6031-F1EB-460E-9733-73C192ADC94A}" presName="sibTrans" presStyleCnt="0"/>
      <dgm:spPr/>
    </dgm:pt>
    <dgm:pt modelId="{08C0EE5E-1482-47C6-9B5B-25D39795A8C6}" type="pres">
      <dgm:prSet presAssocID="{9042F2F5-8AE6-40AC-A707-D213D22B0212}" presName="node" presStyleLbl="node1" presStyleIdx="5" presStyleCnt="6">
        <dgm:presLayoutVars>
          <dgm:bulletEnabled val="1"/>
        </dgm:presLayoutVars>
      </dgm:prSet>
      <dgm:spPr/>
    </dgm:pt>
  </dgm:ptLst>
  <dgm:cxnLst>
    <dgm:cxn modelId="{09A4E65B-ED4C-4CD8-8AD2-F729B9856915}" srcId="{3C0EEB7C-1901-4C47-8036-B3DC2EEA1411}" destId="{3CD2984C-8FB0-4A4A-8AFC-017A6BAE385D}" srcOrd="3" destOrd="0" parTransId="{93783460-0116-4E3C-8331-DF54DC847B5F}" sibTransId="{C4D477A8-45CD-46C6-B18C-60BDA7067FC1}"/>
    <dgm:cxn modelId="{4ABE236A-3180-4A3E-9373-1F632EFDA1E0}" srcId="{3C0EEB7C-1901-4C47-8036-B3DC2EEA1411}" destId="{9042F2F5-8AE6-40AC-A707-D213D22B0212}" srcOrd="5" destOrd="0" parTransId="{EB39217B-327D-4326-A121-0AE482674F89}" sibTransId="{64D9E8BB-B517-43CC-AB48-6655A7C6E3F0}"/>
    <dgm:cxn modelId="{9D8D4555-6D7C-43B2-A5C9-7CCC2436483A}" srcId="{3C0EEB7C-1901-4C47-8036-B3DC2EEA1411}" destId="{90336974-B3B6-46E0-B2BD-603C62A251EB}" srcOrd="0" destOrd="0" parTransId="{4A58EF27-5E40-4A0B-A622-D6DB340B6C7B}" sibTransId="{AD977DD7-789D-46E3-AA97-2EF58956E726}"/>
    <dgm:cxn modelId="{7C4C7A57-6627-4347-9EC4-E8853173C098}" type="presOf" srcId="{BF2B1E67-7999-4E39-9833-EA37C28DA0A6}" destId="{EB2A9801-F959-4082-AA9B-ED20197A216F}" srcOrd="0" destOrd="0" presId="urn:microsoft.com/office/officeart/2005/8/layout/default"/>
    <dgm:cxn modelId="{32CB287A-69A2-499E-A227-19BC5CD3E771}" type="presOf" srcId="{3C0EEB7C-1901-4C47-8036-B3DC2EEA1411}" destId="{F28D7320-6C29-4738-AD66-83C8DA417652}" srcOrd="0" destOrd="0" presId="urn:microsoft.com/office/officeart/2005/8/layout/default"/>
    <dgm:cxn modelId="{D4EE478C-8C30-44F6-863D-7783E55F6AB9}" type="presOf" srcId="{B0A56789-820F-4DB8-B00B-EE00C80106A3}" destId="{D60BDFD0-E899-4FCA-AFD3-6997F18B6955}" srcOrd="0" destOrd="0" presId="urn:microsoft.com/office/officeart/2005/8/layout/default"/>
    <dgm:cxn modelId="{A33A899E-FC71-42A1-B8CF-BC7BF380AA08}" srcId="{3C0EEB7C-1901-4C47-8036-B3DC2EEA1411}" destId="{BF2B1E67-7999-4E39-9833-EA37C28DA0A6}" srcOrd="1" destOrd="0" parTransId="{DE5E919C-9839-44CC-A27C-C11FB7FD304F}" sibTransId="{076E49A0-F053-4719-ABCA-0633FB674D60}"/>
    <dgm:cxn modelId="{FEA79CB9-5456-44BA-8574-5B250E855A32}" type="presOf" srcId="{90336974-B3B6-46E0-B2BD-603C62A251EB}" destId="{B12FCA74-5746-4C43-B209-20140B6C65B0}" srcOrd="0" destOrd="0" presId="urn:microsoft.com/office/officeart/2005/8/layout/default"/>
    <dgm:cxn modelId="{21C90FBD-83C5-4257-A1BE-DDD04B8539F7}" type="presOf" srcId="{9042F2F5-8AE6-40AC-A707-D213D22B0212}" destId="{08C0EE5E-1482-47C6-9B5B-25D39795A8C6}" srcOrd="0" destOrd="0" presId="urn:microsoft.com/office/officeart/2005/8/layout/default"/>
    <dgm:cxn modelId="{081E35C8-1553-4DEC-B530-86FA134016E5}" srcId="{3C0EEB7C-1901-4C47-8036-B3DC2EEA1411}" destId="{B0A56789-820F-4DB8-B00B-EE00C80106A3}" srcOrd="2" destOrd="0" parTransId="{499DE2EC-35E0-4423-81B6-0E81AFA2F33A}" sibTransId="{F9949471-B868-4CDE-935D-02F3919B315C}"/>
    <dgm:cxn modelId="{49019CC8-F4E6-4085-8A0C-1F4C6F35CF2E}" type="presOf" srcId="{E22CA7E4-4576-47A9-9188-3384611AD942}" destId="{1A958C59-9679-4DC1-84BE-D5700363E197}" srcOrd="0" destOrd="0" presId="urn:microsoft.com/office/officeart/2005/8/layout/default"/>
    <dgm:cxn modelId="{4E96F3EE-92FB-44F7-A99A-A5A110BE2B40}" type="presOf" srcId="{3CD2984C-8FB0-4A4A-8AFC-017A6BAE385D}" destId="{C412190E-BB05-4EB2-B88D-FE2617EECCCE}" srcOrd="0" destOrd="0" presId="urn:microsoft.com/office/officeart/2005/8/layout/default"/>
    <dgm:cxn modelId="{3C7BDEF4-F692-40CE-9E61-39E60DC936EA}" srcId="{3C0EEB7C-1901-4C47-8036-B3DC2EEA1411}" destId="{E22CA7E4-4576-47A9-9188-3384611AD942}" srcOrd="4" destOrd="0" parTransId="{0AA70166-4FBB-4229-BF1E-50D2EEB24BD1}" sibTransId="{5DBD6031-F1EB-460E-9733-73C192ADC94A}"/>
    <dgm:cxn modelId="{84FE8FDD-A1D1-4967-AFDD-F5AFAE558D74}" type="presParOf" srcId="{F28D7320-6C29-4738-AD66-83C8DA417652}" destId="{B12FCA74-5746-4C43-B209-20140B6C65B0}" srcOrd="0" destOrd="0" presId="urn:microsoft.com/office/officeart/2005/8/layout/default"/>
    <dgm:cxn modelId="{0E9A3707-4EC9-48EC-96C6-7D5F1316AACE}" type="presParOf" srcId="{F28D7320-6C29-4738-AD66-83C8DA417652}" destId="{AF2F4FED-C450-433D-8BFE-7BAF3086A7DF}" srcOrd="1" destOrd="0" presId="urn:microsoft.com/office/officeart/2005/8/layout/default"/>
    <dgm:cxn modelId="{E26C2D19-B5ED-44A5-A043-18A183B7C6EB}" type="presParOf" srcId="{F28D7320-6C29-4738-AD66-83C8DA417652}" destId="{EB2A9801-F959-4082-AA9B-ED20197A216F}" srcOrd="2" destOrd="0" presId="urn:microsoft.com/office/officeart/2005/8/layout/default"/>
    <dgm:cxn modelId="{4C775911-2B1A-47AB-A7C1-E9CDA939BE6B}" type="presParOf" srcId="{F28D7320-6C29-4738-AD66-83C8DA417652}" destId="{1160C50C-EE9A-4030-BF49-E1DD1DB4D82F}" srcOrd="3" destOrd="0" presId="urn:microsoft.com/office/officeart/2005/8/layout/default"/>
    <dgm:cxn modelId="{3BEFB207-5E3D-44DA-962A-C00C45AC220E}" type="presParOf" srcId="{F28D7320-6C29-4738-AD66-83C8DA417652}" destId="{D60BDFD0-E899-4FCA-AFD3-6997F18B6955}" srcOrd="4" destOrd="0" presId="urn:microsoft.com/office/officeart/2005/8/layout/default"/>
    <dgm:cxn modelId="{55D58AA7-5036-4D96-B18F-EFD25598175F}" type="presParOf" srcId="{F28D7320-6C29-4738-AD66-83C8DA417652}" destId="{4D523E49-4395-41E5-84D4-4EDF0693F4BC}" srcOrd="5" destOrd="0" presId="urn:microsoft.com/office/officeart/2005/8/layout/default"/>
    <dgm:cxn modelId="{31840B8F-732D-4AF0-8EA9-D0DD742B05EE}" type="presParOf" srcId="{F28D7320-6C29-4738-AD66-83C8DA417652}" destId="{C412190E-BB05-4EB2-B88D-FE2617EECCCE}" srcOrd="6" destOrd="0" presId="urn:microsoft.com/office/officeart/2005/8/layout/default"/>
    <dgm:cxn modelId="{AF7E1BA7-5614-4803-8CB0-6748F0ACEE99}" type="presParOf" srcId="{F28D7320-6C29-4738-AD66-83C8DA417652}" destId="{A0FEAFD8-0A26-47D0-9EB6-4660297AD7C9}" srcOrd="7" destOrd="0" presId="urn:microsoft.com/office/officeart/2005/8/layout/default"/>
    <dgm:cxn modelId="{EF4C70DE-DB88-45FB-90F6-A790CBD249D0}" type="presParOf" srcId="{F28D7320-6C29-4738-AD66-83C8DA417652}" destId="{1A958C59-9679-4DC1-84BE-D5700363E197}" srcOrd="8" destOrd="0" presId="urn:microsoft.com/office/officeart/2005/8/layout/default"/>
    <dgm:cxn modelId="{04CFE020-AF07-4562-9152-0BCDC1B9A7D3}" type="presParOf" srcId="{F28D7320-6C29-4738-AD66-83C8DA417652}" destId="{F84AB801-FBD3-4B7F-A1F0-D3EB83D67ECC}" srcOrd="9" destOrd="0" presId="urn:microsoft.com/office/officeart/2005/8/layout/default"/>
    <dgm:cxn modelId="{92AD18F0-E579-4874-9509-00DAF7F8AE9E}" type="presParOf" srcId="{F28D7320-6C29-4738-AD66-83C8DA417652}" destId="{08C0EE5E-1482-47C6-9B5B-25D39795A8C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EE3039-115A-4CA6-983A-38158BED51F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9EBBAD-BADA-4EBD-949E-4AC3B9EB6A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Rabies Control Effectiveness</a:t>
          </a:r>
          <a:r>
            <a:rPr lang="en-US"/>
            <a:t>: The negative correlation between </a:t>
          </a:r>
          <a:r>
            <a:rPr lang="en-US" b="1"/>
            <a:t>dogs vaccinated</a:t>
          </a:r>
          <a:r>
            <a:rPr lang="en-US"/>
            <a:t> and </a:t>
          </a:r>
          <a:r>
            <a:rPr lang="en-US" b="1"/>
            <a:t>human rabies cases</a:t>
          </a:r>
          <a:r>
            <a:rPr lang="en-US"/>
            <a:t> indicates that increasing </a:t>
          </a:r>
          <a:r>
            <a:rPr lang="en-US" b="1"/>
            <a:t>dog vaccination</a:t>
          </a:r>
          <a:r>
            <a:rPr lang="en-US"/>
            <a:t> is likely effective in controlling </a:t>
          </a:r>
          <a:r>
            <a:rPr lang="en-US" b="1"/>
            <a:t>human rabies</a:t>
          </a:r>
          <a:r>
            <a:rPr lang="en-US"/>
            <a:t>.</a:t>
          </a:r>
        </a:p>
      </dgm:t>
    </dgm:pt>
    <dgm:pt modelId="{C024A489-2843-44A4-A107-055F11DDF64C}" type="parTrans" cxnId="{6B37DFB3-5BA6-495B-BA8A-8FC61E1526E8}">
      <dgm:prSet/>
      <dgm:spPr/>
      <dgm:t>
        <a:bodyPr/>
        <a:lstStyle/>
        <a:p>
          <a:endParaRPr lang="en-US"/>
        </a:p>
      </dgm:t>
    </dgm:pt>
    <dgm:pt modelId="{0534C7E8-DAD1-44C6-98C1-A4572D100CAA}" type="sibTrans" cxnId="{6B37DFB3-5BA6-495B-BA8A-8FC61E1526E8}">
      <dgm:prSet/>
      <dgm:spPr/>
      <dgm:t>
        <a:bodyPr/>
        <a:lstStyle/>
        <a:p>
          <a:endParaRPr lang="en-US"/>
        </a:p>
      </dgm:t>
    </dgm:pt>
    <dgm:pt modelId="{003CE558-5DAE-4569-81AB-4DEBB20C4D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ARV Usage and Rabies Cases</a:t>
          </a:r>
          <a:r>
            <a:rPr lang="en-US"/>
            <a:t>: The strong negative correlation between </a:t>
          </a:r>
          <a:r>
            <a:rPr lang="en-US" b="1"/>
            <a:t>human rabies cases</a:t>
          </a:r>
          <a:r>
            <a:rPr lang="en-US"/>
            <a:t> and </a:t>
          </a:r>
          <a:r>
            <a:rPr lang="en-US" b="1"/>
            <a:t>ARV usage</a:t>
          </a:r>
          <a:r>
            <a:rPr lang="en-US"/>
            <a:t> suggests that as </a:t>
          </a:r>
          <a:r>
            <a:rPr lang="en-US" b="1"/>
            <a:t>rabies cases</a:t>
          </a:r>
          <a:r>
            <a:rPr lang="en-US"/>
            <a:t> decline, </a:t>
          </a:r>
          <a:r>
            <a:rPr lang="en-US" b="1"/>
            <a:t>ARV treatments</a:t>
          </a:r>
          <a:r>
            <a:rPr lang="en-US"/>
            <a:t> are used less frequently.</a:t>
          </a:r>
        </a:p>
      </dgm:t>
    </dgm:pt>
    <dgm:pt modelId="{6BEABA4C-89D0-44C0-B20C-8801EDDF2BC8}" type="parTrans" cxnId="{C5135165-8999-424C-B965-4DC61F26416B}">
      <dgm:prSet/>
      <dgm:spPr/>
      <dgm:t>
        <a:bodyPr/>
        <a:lstStyle/>
        <a:p>
          <a:endParaRPr lang="en-US"/>
        </a:p>
      </dgm:t>
    </dgm:pt>
    <dgm:pt modelId="{0559D199-C277-48BD-82D4-1D4537D628D7}" type="sibTrans" cxnId="{C5135165-8999-424C-B965-4DC61F26416B}">
      <dgm:prSet/>
      <dgm:spPr/>
      <dgm:t>
        <a:bodyPr/>
        <a:lstStyle/>
        <a:p>
          <a:endParaRPr lang="en-US"/>
        </a:p>
      </dgm:t>
    </dgm:pt>
    <dgm:pt modelId="{CB4E918D-54F8-448B-AE18-B0209A4232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Vaccination and ARV Usage</a:t>
          </a:r>
          <a:r>
            <a:rPr lang="en-US"/>
            <a:t>: The positive correlation between </a:t>
          </a:r>
          <a:r>
            <a:rPr lang="en-US" b="1"/>
            <a:t>dog vaccinations</a:t>
          </a:r>
          <a:r>
            <a:rPr lang="en-US"/>
            <a:t> and </a:t>
          </a:r>
          <a:r>
            <a:rPr lang="en-US" b="1"/>
            <a:t>ARV usage</a:t>
          </a:r>
          <a:r>
            <a:rPr lang="en-US"/>
            <a:t> indicates that vaccination programs might be associated with a higher need for </a:t>
          </a:r>
          <a:r>
            <a:rPr lang="en-US" b="1"/>
            <a:t>ARV</a:t>
          </a:r>
          <a:r>
            <a:rPr lang="en-US"/>
            <a:t>, perhaps due to increased awareness or increased treatment needs in areas with higher exposure.</a:t>
          </a:r>
        </a:p>
      </dgm:t>
    </dgm:pt>
    <dgm:pt modelId="{23A2161A-5350-4490-8FC2-678E0FDBEBBB}" type="parTrans" cxnId="{E7A8FFBE-424F-4B79-AC2A-675FCB68B4DC}">
      <dgm:prSet/>
      <dgm:spPr/>
      <dgm:t>
        <a:bodyPr/>
        <a:lstStyle/>
        <a:p>
          <a:endParaRPr lang="en-US"/>
        </a:p>
      </dgm:t>
    </dgm:pt>
    <dgm:pt modelId="{E1B7DFA4-F946-4E52-8C9D-739F7DF39A6B}" type="sibTrans" cxnId="{E7A8FFBE-424F-4B79-AC2A-675FCB68B4DC}">
      <dgm:prSet/>
      <dgm:spPr/>
      <dgm:t>
        <a:bodyPr/>
        <a:lstStyle/>
        <a:p>
          <a:endParaRPr lang="en-US"/>
        </a:p>
      </dgm:t>
    </dgm:pt>
    <dgm:pt modelId="{3D7B523D-B3DF-4C36-A040-81A4E14FD244}" type="pres">
      <dgm:prSet presAssocID="{3AEE3039-115A-4CA6-983A-38158BED51FD}" presName="root" presStyleCnt="0">
        <dgm:presLayoutVars>
          <dgm:dir/>
          <dgm:resizeHandles val="exact"/>
        </dgm:presLayoutVars>
      </dgm:prSet>
      <dgm:spPr/>
    </dgm:pt>
    <dgm:pt modelId="{E4466B52-8FC0-4957-B707-A775C3B7653D}" type="pres">
      <dgm:prSet presAssocID="{2B9EBBAD-BADA-4EBD-949E-4AC3B9EB6A00}" presName="compNode" presStyleCnt="0"/>
      <dgm:spPr/>
    </dgm:pt>
    <dgm:pt modelId="{75619E8E-9E64-41DB-930F-9011EEC46B75}" type="pres">
      <dgm:prSet presAssocID="{2B9EBBAD-BADA-4EBD-949E-4AC3B9EB6A00}" presName="bgRect" presStyleLbl="bgShp" presStyleIdx="0" presStyleCnt="3"/>
      <dgm:spPr/>
    </dgm:pt>
    <dgm:pt modelId="{BDC57CC4-8E6B-406E-BACC-FCBF893600C6}" type="pres">
      <dgm:prSet presAssocID="{2B9EBBAD-BADA-4EBD-949E-4AC3B9EB6A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79875ECE-E58F-4FC0-A71D-84907CF437E5}" type="pres">
      <dgm:prSet presAssocID="{2B9EBBAD-BADA-4EBD-949E-4AC3B9EB6A00}" presName="spaceRect" presStyleCnt="0"/>
      <dgm:spPr/>
    </dgm:pt>
    <dgm:pt modelId="{D52A6A70-6BDC-43E2-ABEC-284BF0D7E7AF}" type="pres">
      <dgm:prSet presAssocID="{2B9EBBAD-BADA-4EBD-949E-4AC3B9EB6A00}" presName="parTx" presStyleLbl="revTx" presStyleIdx="0" presStyleCnt="3">
        <dgm:presLayoutVars>
          <dgm:chMax val="0"/>
          <dgm:chPref val="0"/>
        </dgm:presLayoutVars>
      </dgm:prSet>
      <dgm:spPr/>
    </dgm:pt>
    <dgm:pt modelId="{6D8270DD-63F4-4ABA-9510-29D472E6C2FB}" type="pres">
      <dgm:prSet presAssocID="{0534C7E8-DAD1-44C6-98C1-A4572D100CAA}" presName="sibTrans" presStyleCnt="0"/>
      <dgm:spPr/>
    </dgm:pt>
    <dgm:pt modelId="{D6FF691A-3B86-4820-B6E2-9C420682F426}" type="pres">
      <dgm:prSet presAssocID="{003CE558-5DAE-4569-81AB-4DEBB20C4DD4}" presName="compNode" presStyleCnt="0"/>
      <dgm:spPr/>
    </dgm:pt>
    <dgm:pt modelId="{3C73DDB1-CBBF-431D-9431-3B5B1FD75218}" type="pres">
      <dgm:prSet presAssocID="{003CE558-5DAE-4569-81AB-4DEBB20C4DD4}" presName="bgRect" presStyleLbl="bgShp" presStyleIdx="1" presStyleCnt="3"/>
      <dgm:spPr/>
    </dgm:pt>
    <dgm:pt modelId="{AFD30EF4-6B2C-46C3-83CF-7B6B30E5EBB6}" type="pres">
      <dgm:prSet presAssocID="{003CE558-5DAE-4569-81AB-4DEBB20C4D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CE5492FD-AD8A-4D47-9449-F0821D0FC05E}" type="pres">
      <dgm:prSet presAssocID="{003CE558-5DAE-4569-81AB-4DEBB20C4DD4}" presName="spaceRect" presStyleCnt="0"/>
      <dgm:spPr/>
    </dgm:pt>
    <dgm:pt modelId="{F251FD76-420B-447F-891B-45539800579D}" type="pres">
      <dgm:prSet presAssocID="{003CE558-5DAE-4569-81AB-4DEBB20C4DD4}" presName="parTx" presStyleLbl="revTx" presStyleIdx="1" presStyleCnt="3">
        <dgm:presLayoutVars>
          <dgm:chMax val="0"/>
          <dgm:chPref val="0"/>
        </dgm:presLayoutVars>
      </dgm:prSet>
      <dgm:spPr/>
    </dgm:pt>
    <dgm:pt modelId="{19B67C4D-F154-4B1C-B5F2-62A00E5D32FC}" type="pres">
      <dgm:prSet presAssocID="{0559D199-C277-48BD-82D4-1D4537D628D7}" presName="sibTrans" presStyleCnt="0"/>
      <dgm:spPr/>
    </dgm:pt>
    <dgm:pt modelId="{ABB5A557-FC4A-4A6A-8EA6-4621E3ABFC78}" type="pres">
      <dgm:prSet presAssocID="{CB4E918D-54F8-448B-AE18-B0209A423253}" presName="compNode" presStyleCnt="0"/>
      <dgm:spPr/>
    </dgm:pt>
    <dgm:pt modelId="{502A93BF-70BA-40E3-BCC7-819148449E2A}" type="pres">
      <dgm:prSet presAssocID="{CB4E918D-54F8-448B-AE18-B0209A423253}" presName="bgRect" presStyleLbl="bgShp" presStyleIdx="2" presStyleCnt="3"/>
      <dgm:spPr/>
    </dgm:pt>
    <dgm:pt modelId="{9027D567-B857-4F04-AE5E-6C2EA0358AEE}" type="pres">
      <dgm:prSet presAssocID="{CB4E918D-54F8-448B-AE18-B0209A4232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CACBDA5B-35EF-4B46-8E9C-004D40C10593}" type="pres">
      <dgm:prSet presAssocID="{CB4E918D-54F8-448B-AE18-B0209A423253}" presName="spaceRect" presStyleCnt="0"/>
      <dgm:spPr/>
    </dgm:pt>
    <dgm:pt modelId="{D06B696F-DA9F-47B0-B3B8-34FB133DE048}" type="pres">
      <dgm:prSet presAssocID="{CB4E918D-54F8-448B-AE18-B0209A42325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5135165-8999-424C-B965-4DC61F26416B}" srcId="{3AEE3039-115A-4CA6-983A-38158BED51FD}" destId="{003CE558-5DAE-4569-81AB-4DEBB20C4DD4}" srcOrd="1" destOrd="0" parTransId="{6BEABA4C-89D0-44C0-B20C-8801EDDF2BC8}" sibTransId="{0559D199-C277-48BD-82D4-1D4537D628D7}"/>
    <dgm:cxn modelId="{1DF5479D-2EF8-4637-9722-093A82D1BAA5}" type="presOf" srcId="{003CE558-5DAE-4569-81AB-4DEBB20C4DD4}" destId="{F251FD76-420B-447F-891B-45539800579D}" srcOrd="0" destOrd="0" presId="urn:microsoft.com/office/officeart/2018/2/layout/IconVerticalSolidList"/>
    <dgm:cxn modelId="{7BD954B1-FEF7-4536-86D2-D280C541C12D}" type="presOf" srcId="{2B9EBBAD-BADA-4EBD-949E-4AC3B9EB6A00}" destId="{D52A6A70-6BDC-43E2-ABEC-284BF0D7E7AF}" srcOrd="0" destOrd="0" presId="urn:microsoft.com/office/officeart/2018/2/layout/IconVerticalSolidList"/>
    <dgm:cxn modelId="{6B37DFB3-5BA6-495B-BA8A-8FC61E1526E8}" srcId="{3AEE3039-115A-4CA6-983A-38158BED51FD}" destId="{2B9EBBAD-BADA-4EBD-949E-4AC3B9EB6A00}" srcOrd="0" destOrd="0" parTransId="{C024A489-2843-44A4-A107-055F11DDF64C}" sibTransId="{0534C7E8-DAD1-44C6-98C1-A4572D100CAA}"/>
    <dgm:cxn modelId="{E7A8FFBE-424F-4B79-AC2A-675FCB68B4DC}" srcId="{3AEE3039-115A-4CA6-983A-38158BED51FD}" destId="{CB4E918D-54F8-448B-AE18-B0209A423253}" srcOrd="2" destOrd="0" parTransId="{23A2161A-5350-4490-8FC2-678E0FDBEBBB}" sibTransId="{E1B7DFA4-F946-4E52-8C9D-739F7DF39A6B}"/>
    <dgm:cxn modelId="{C9FB6FE0-7E30-4EFE-B80F-A6124D608867}" type="presOf" srcId="{CB4E918D-54F8-448B-AE18-B0209A423253}" destId="{D06B696F-DA9F-47B0-B3B8-34FB133DE048}" srcOrd="0" destOrd="0" presId="urn:microsoft.com/office/officeart/2018/2/layout/IconVerticalSolidList"/>
    <dgm:cxn modelId="{816B23E1-F9C0-466F-A1BF-EACBD570DC29}" type="presOf" srcId="{3AEE3039-115A-4CA6-983A-38158BED51FD}" destId="{3D7B523D-B3DF-4C36-A040-81A4E14FD244}" srcOrd="0" destOrd="0" presId="urn:microsoft.com/office/officeart/2018/2/layout/IconVerticalSolidList"/>
    <dgm:cxn modelId="{935D6F47-A973-4B44-A413-025BAF47C36D}" type="presParOf" srcId="{3D7B523D-B3DF-4C36-A040-81A4E14FD244}" destId="{E4466B52-8FC0-4957-B707-A775C3B7653D}" srcOrd="0" destOrd="0" presId="urn:microsoft.com/office/officeart/2018/2/layout/IconVerticalSolidList"/>
    <dgm:cxn modelId="{7FAEEA5D-3B5C-4E30-A7FC-91F79DE448C9}" type="presParOf" srcId="{E4466B52-8FC0-4957-B707-A775C3B7653D}" destId="{75619E8E-9E64-41DB-930F-9011EEC46B75}" srcOrd="0" destOrd="0" presId="urn:microsoft.com/office/officeart/2018/2/layout/IconVerticalSolidList"/>
    <dgm:cxn modelId="{28CB42C2-E0A5-42D4-8D85-D8EA881C748F}" type="presParOf" srcId="{E4466B52-8FC0-4957-B707-A775C3B7653D}" destId="{BDC57CC4-8E6B-406E-BACC-FCBF893600C6}" srcOrd="1" destOrd="0" presId="urn:microsoft.com/office/officeart/2018/2/layout/IconVerticalSolidList"/>
    <dgm:cxn modelId="{9D6C5885-6DC3-42F0-BAC0-34957F910A51}" type="presParOf" srcId="{E4466B52-8FC0-4957-B707-A775C3B7653D}" destId="{79875ECE-E58F-4FC0-A71D-84907CF437E5}" srcOrd="2" destOrd="0" presId="urn:microsoft.com/office/officeart/2018/2/layout/IconVerticalSolidList"/>
    <dgm:cxn modelId="{88C976E6-2B69-4D54-B851-F8882708EA7F}" type="presParOf" srcId="{E4466B52-8FC0-4957-B707-A775C3B7653D}" destId="{D52A6A70-6BDC-43E2-ABEC-284BF0D7E7AF}" srcOrd="3" destOrd="0" presId="urn:microsoft.com/office/officeart/2018/2/layout/IconVerticalSolidList"/>
    <dgm:cxn modelId="{5AF6D288-6E60-49B4-989D-2CEB67F7DD5A}" type="presParOf" srcId="{3D7B523D-B3DF-4C36-A040-81A4E14FD244}" destId="{6D8270DD-63F4-4ABA-9510-29D472E6C2FB}" srcOrd="1" destOrd="0" presId="urn:microsoft.com/office/officeart/2018/2/layout/IconVerticalSolidList"/>
    <dgm:cxn modelId="{D9998C4D-D16F-45BB-87AD-B9C76C96C553}" type="presParOf" srcId="{3D7B523D-B3DF-4C36-A040-81A4E14FD244}" destId="{D6FF691A-3B86-4820-B6E2-9C420682F426}" srcOrd="2" destOrd="0" presId="urn:microsoft.com/office/officeart/2018/2/layout/IconVerticalSolidList"/>
    <dgm:cxn modelId="{A561454C-AF21-450A-A774-69DDD8286CD5}" type="presParOf" srcId="{D6FF691A-3B86-4820-B6E2-9C420682F426}" destId="{3C73DDB1-CBBF-431D-9431-3B5B1FD75218}" srcOrd="0" destOrd="0" presId="urn:microsoft.com/office/officeart/2018/2/layout/IconVerticalSolidList"/>
    <dgm:cxn modelId="{EB9EAF23-CCDF-483D-BE2F-6961A4AD071C}" type="presParOf" srcId="{D6FF691A-3B86-4820-B6E2-9C420682F426}" destId="{AFD30EF4-6B2C-46C3-83CF-7B6B30E5EBB6}" srcOrd="1" destOrd="0" presId="urn:microsoft.com/office/officeart/2018/2/layout/IconVerticalSolidList"/>
    <dgm:cxn modelId="{496DDCB9-B24D-4F1C-AFED-37EDC6068F47}" type="presParOf" srcId="{D6FF691A-3B86-4820-B6E2-9C420682F426}" destId="{CE5492FD-AD8A-4D47-9449-F0821D0FC05E}" srcOrd="2" destOrd="0" presId="urn:microsoft.com/office/officeart/2018/2/layout/IconVerticalSolidList"/>
    <dgm:cxn modelId="{A3036015-AB12-4034-B541-FC11505177F5}" type="presParOf" srcId="{D6FF691A-3B86-4820-B6E2-9C420682F426}" destId="{F251FD76-420B-447F-891B-45539800579D}" srcOrd="3" destOrd="0" presId="urn:microsoft.com/office/officeart/2018/2/layout/IconVerticalSolidList"/>
    <dgm:cxn modelId="{3E0C03FA-1060-40C6-8D57-0CA7430D0C13}" type="presParOf" srcId="{3D7B523D-B3DF-4C36-A040-81A4E14FD244}" destId="{19B67C4D-F154-4B1C-B5F2-62A00E5D32FC}" srcOrd="3" destOrd="0" presId="urn:microsoft.com/office/officeart/2018/2/layout/IconVerticalSolidList"/>
    <dgm:cxn modelId="{71ED4487-BD73-4CE3-A1EB-27FC85C427F3}" type="presParOf" srcId="{3D7B523D-B3DF-4C36-A040-81A4E14FD244}" destId="{ABB5A557-FC4A-4A6A-8EA6-4621E3ABFC78}" srcOrd="4" destOrd="0" presId="urn:microsoft.com/office/officeart/2018/2/layout/IconVerticalSolidList"/>
    <dgm:cxn modelId="{2E56D053-0B42-4227-BEAF-1F4E32D6E38D}" type="presParOf" srcId="{ABB5A557-FC4A-4A6A-8EA6-4621E3ABFC78}" destId="{502A93BF-70BA-40E3-BCC7-819148449E2A}" srcOrd="0" destOrd="0" presId="urn:microsoft.com/office/officeart/2018/2/layout/IconVerticalSolidList"/>
    <dgm:cxn modelId="{53FD7707-BF7A-48AB-840C-31278EF1DA18}" type="presParOf" srcId="{ABB5A557-FC4A-4A6A-8EA6-4621E3ABFC78}" destId="{9027D567-B857-4F04-AE5E-6C2EA0358AEE}" srcOrd="1" destOrd="0" presId="urn:microsoft.com/office/officeart/2018/2/layout/IconVerticalSolidList"/>
    <dgm:cxn modelId="{4929B3B0-4800-4A20-8A2F-13DBC829EECE}" type="presParOf" srcId="{ABB5A557-FC4A-4A6A-8EA6-4621E3ABFC78}" destId="{CACBDA5B-35EF-4B46-8E9C-004D40C10593}" srcOrd="2" destOrd="0" presId="urn:microsoft.com/office/officeart/2018/2/layout/IconVerticalSolidList"/>
    <dgm:cxn modelId="{D72D87A6-B9A8-45A9-896C-BD5B5CE7823A}" type="presParOf" srcId="{ABB5A557-FC4A-4A6A-8EA6-4621E3ABFC78}" destId="{D06B696F-DA9F-47B0-B3B8-34FB133DE0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FCA74-5746-4C43-B209-20140B6C65B0}">
      <dsp:nvSpPr>
        <dsp:cNvPr id="0" name=""/>
        <dsp:cNvSpPr/>
      </dsp:nvSpPr>
      <dsp:spPr>
        <a:xfrm>
          <a:off x="504" y="732370"/>
          <a:ext cx="1967466" cy="11804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The graph shows the </a:t>
          </a:r>
          <a:r>
            <a:rPr lang="en-US" sz="1000" b="1" kern="1200" dirty="0"/>
            <a:t>trends of rabies control measures over time</a:t>
          </a:r>
          <a:r>
            <a:rPr lang="en-US" sz="1000" kern="1200" dirty="0"/>
            <a:t> with three different variables:</a:t>
          </a:r>
        </a:p>
      </dsp:txBody>
      <dsp:txXfrm>
        <a:off x="504" y="732370"/>
        <a:ext cx="1967466" cy="1180480"/>
      </dsp:txXfrm>
    </dsp:sp>
    <dsp:sp modelId="{EB2A9801-F959-4082-AA9B-ED20197A216F}">
      <dsp:nvSpPr>
        <dsp:cNvPr id="0" name=""/>
        <dsp:cNvSpPr/>
      </dsp:nvSpPr>
      <dsp:spPr>
        <a:xfrm>
          <a:off x="2164717" y="732370"/>
          <a:ext cx="1967466" cy="11804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Dogs Vaccinated</a:t>
          </a:r>
          <a:r>
            <a:rPr lang="en-US" sz="1000" kern="1200"/>
            <a:t> (Blue Line): This line represents the number of </a:t>
          </a:r>
          <a:r>
            <a:rPr lang="en-US" sz="1000" b="1" kern="1200"/>
            <a:t>dogs vaccinated</a:t>
          </a:r>
          <a:r>
            <a:rPr lang="en-US" sz="1000" kern="1200"/>
            <a:t> over the years. The trend shows sharp increases in vaccination efforts, particularly around certain years.</a:t>
          </a:r>
        </a:p>
      </dsp:txBody>
      <dsp:txXfrm>
        <a:off x="2164717" y="732370"/>
        <a:ext cx="1967466" cy="1180480"/>
      </dsp:txXfrm>
    </dsp:sp>
    <dsp:sp modelId="{D60BDFD0-E899-4FCA-AFD3-6997F18B6955}">
      <dsp:nvSpPr>
        <dsp:cNvPr id="0" name=""/>
        <dsp:cNvSpPr/>
      </dsp:nvSpPr>
      <dsp:spPr>
        <a:xfrm>
          <a:off x="504" y="2109597"/>
          <a:ext cx="1967466" cy="11804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1"/>
              </a:solidFill>
            </a:rPr>
            <a:t>Human Rabies Cases</a:t>
          </a:r>
          <a:r>
            <a:rPr lang="en-US" sz="1000" kern="1200" dirty="0">
              <a:solidFill>
                <a:schemeClr val="bg1"/>
              </a:solidFill>
            </a:rPr>
            <a:t> (Orange Line): This line represents the number of </a:t>
          </a:r>
          <a:r>
            <a:rPr lang="en-US" sz="1000" b="1" kern="1200" dirty="0">
              <a:solidFill>
                <a:schemeClr val="bg1"/>
              </a:solidFill>
            </a:rPr>
            <a:t>human rabies cases</a:t>
          </a:r>
          <a:r>
            <a:rPr lang="en-US" sz="1000" kern="1200" dirty="0">
              <a:solidFill>
                <a:schemeClr val="bg1"/>
              </a:solidFill>
            </a:rPr>
            <a:t> over time. The data is relatively flat, indicating low numbers of human rabies cases, with only a few spikes in certain years.</a:t>
          </a:r>
        </a:p>
      </dsp:txBody>
      <dsp:txXfrm>
        <a:off x="504" y="2109597"/>
        <a:ext cx="1967466" cy="1180480"/>
      </dsp:txXfrm>
    </dsp:sp>
    <dsp:sp modelId="{C412190E-BB05-4EB2-B88D-FE2617EECCCE}">
      <dsp:nvSpPr>
        <dsp:cNvPr id="0" name=""/>
        <dsp:cNvSpPr/>
      </dsp:nvSpPr>
      <dsp:spPr>
        <a:xfrm>
          <a:off x="2164717" y="2109597"/>
          <a:ext cx="1967466" cy="11804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ARV Used</a:t>
          </a:r>
          <a:r>
            <a:rPr lang="en-US" sz="1000" kern="1200" dirty="0"/>
            <a:t> (Green Line): This line indicates the number of </a:t>
          </a:r>
          <a:r>
            <a:rPr lang="en-US" sz="1000" b="1" kern="1200" dirty="0"/>
            <a:t>anti-rabies vaccines (ARV)</a:t>
          </a:r>
          <a:r>
            <a:rPr lang="en-US" sz="1000" kern="1200" dirty="0"/>
            <a:t> used over the years. Similar to the vaccination data, this shows significant increases at certain points in time.</a:t>
          </a:r>
        </a:p>
      </dsp:txBody>
      <dsp:txXfrm>
        <a:off x="2164717" y="2109597"/>
        <a:ext cx="1967466" cy="1180480"/>
      </dsp:txXfrm>
    </dsp:sp>
    <dsp:sp modelId="{1A958C59-9679-4DC1-84BE-D5700363E197}">
      <dsp:nvSpPr>
        <dsp:cNvPr id="0" name=""/>
        <dsp:cNvSpPr/>
      </dsp:nvSpPr>
      <dsp:spPr>
        <a:xfrm>
          <a:off x="504" y="3486824"/>
          <a:ext cx="1967466" cy="11804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Dog vaccinations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and </a:t>
          </a: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ARV usage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both show increasing trends, suggesting that vaccination programs and treatment efforts have been ramped up over time.</a:t>
          </a:r>
        </a:p>
      </dsp:txBody>
      <dsp:txXfrm>
        <a:off x="504" y="3486824"/>
        <a:ext cx="1967466" cy="1180480"/>
      </dsp:txXfrm>
    </dsp:sp>
    <dsp:sp modelId="{08C0EE5E-1482-47C6-9B5B-25D39795A8C6}">
      <dsp:nvSpPr>
        <dsp:cNvPr id="0" name=""/>
        <dsp:cNvSpPr/>
      </dsp:nvSpPr>
      <dsp:spPr>
        <a:xfrm>
          <a:off x="2164717" y="3486824"/>
          <a:ext cx="1967466" cy="11804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Human rabies cases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remain low, indicating that the interventions might be working effectively to keep the cases under control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2164717" y="3486824"/>
        <a:ext cx="1967466" cy="1180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19E8E-9E64-41DB-930F-9011EEC46B75}">
      <dsp:nvSpPr>
        <dsp:cNvPr id="0" name=""/>
        <dsp:cNvSpPr/>
      </dsp:nvSpPr>
      <dsp:spPr>
        <a:xfrm>
          <a:off x="0" y="642"/>
          <a:ext cx="7036681" cy="15033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57CC4-8E6B-406E-BACC-FCBF893600C6}">
      <dsp:nvSpPr>
        <dsp:cNvPr id="0" name=""/>
        <dsp:cNvSpPr/>
      </dsp:nvSpPr>
      <dsp:spPr>
        <a:xfrm>
          <a:off x="454760" y="338894"/>
          <a:ext cx="826837" cy="8268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A6A70-6BDC-43E2-ABEC-284BF0D7E7AF}">
      <dsp:nvSpPr>
        <dsp:cNvPr id="0" name=""/>
        <dsp:cNvSpPr/>
      </dsp:nvSpPr>
      <dsp:spPr>
        <a:xfrm>
          <a:off x="1736359" y="642"/>
          <a:ext cx="5300321" cy="150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04" tIns="159104" rIns="159104" bIns="15910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Rabies Control Effectiveness</a:t>
          </a:r>
          <a:r>
            <a:rPr lang="en-US" sz="1500" kern="1200"/>
            <a:t>: The negative correlation between </a:t>
          </a:r>
          <a:r>
            <a:rPr lang="en-US" sz="1500" b="1" kern="1200"/>
            <a:t>dogs vaccinated</a:t>
          </a:r>
          <a:r>
            <a:rPr lang="en-US" sz="1500" kern="1200"/>
            <a:t> and </a:t>
          </a:r>
          <a:r>
            <a:rPr lang="en-US" sz="1500" b="1" kern="1200"/>
            <a:t>human rabies cases</a:t>
          </a:r>
          <a:r>
            <a:rPr lang="en-US" sz="1500" kern="1200"/>
            <a:t> indicates that increasing </a:t>
          </a:r>
          <a:r>
            <a:rPr lang="en-US" sz="1500" b="1" kern="1200"/>
            <a:t>dog vaccination</a:t>
          </a:r>
          <a:r>
            <a:rPr lang="en-US" sz="1500" kern="1200"/>
            <a:t> is likely effective in controlling </a:t>
          </a:r>
          <a:r>
            <a:rPr lang="en-US" sz="1500" b="1" kern="1200"/>
            <a:t>human rabies</a:t>
          </a:r>
          <a:r>
            <a:rPr lang="en-US" sz="1500" kern="1200"/>
            <a:t>.</a:t>
          </a:r>
        </a:p>
      </dsp:txBody>
      <dsp:txXfrm>
        <a:off x="1736359" y="642"/>
        <a:ext cx="5300321" cy="1503341"/>
      </dsp:txXfrm>
    </dsp:sp>
    <dsp:sp modelId="{3C73DDB1-CBBF-431D-9431-3B5B1FD75218}">
      <dsp:nvSpPr>
        <dsp:cNvPr id="0" name=""/>
        <dsp:cNvSpPr/>
      </dsp:nvSpPr>
      <dsp:spPr>
        <a:xfrm>
          <a:off x="0" y="1879818"/>
          <a:ext cx="7036681" cy="15033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30EF4-6B2C-46C3-83CF-7B6B30E5EBB6}">
      <dsp:nvSpPr>
        <dsp:cNvPr id="0" name=""/>
        <dsp:cNvSpPr/>
      </dsp:nvSpPr>
      <dsp:spPr>
        <a:xfrm>
          <a:off x="454760" y="2218070"/>
          <a:ext cx="826837" cy="8268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51FD76-420B-447F-891B-45539800579D}">
      <dsp:nvSpPr>
        <dsp:cNvPr id="0" name=""/>
        <dsp:cNvSpPr/>
      </dsp:nvSpPr>
      <dsp:spPr>
        <a:xfrm>
          <a:off x="1736359" y="1879818"/>
          <a:ext cx="5300321" cy="150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04" tIns="159104" rIns="159104" bIns="15910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ARV Usage and Rabies Cases</a:t>
          </a:r>
          <a:r>
            <a:rPr lang="en-US" sz="1500" kern="1200"/>
            <a:t>: The strong negative correlation between </a:t>
          </a:r>
          <a:r>
            <a:rPr lang="en-US" sz="1500" b="1" kern="1200"/>
            <a:t>human rabies cases</a:t>
          </a:r>
          <a:r>
            <a:rPr lang="en-US" sz="1500" kern="1200"/>
            <a:t> and </a:t>
          </a:r>
          <a:r>
            <a:rPr lang="en-US" sz="1500" b="1" kern="1200"/>
            <a:t>ARV usage</a:t>
          </a:r>
          <a:r>
            <a:rPr lang="en-US" sz="1500" kern="1200"/>
            <a:t> suggests that as </a:t>
          </a:r>
          <a:r>
            <a:rPr lang="en-US" sz="1500" b="1" kern="1200"/>
            <a:t>rabies cases</a:t>
          </a:r>
          <a:r>
            <a:rPr lang="en-US" sz="1500" kern="1200"/>
            <a:t> decline, </a:t>
          </a:r>
          <a:r>
            <a:rPr lang="en-US" sz="1500" b="1" kern="1200"/>
            <a:t>ARV treatments</a:t>
          </a:r>
          <a:r>
            <a:rPr lang="en-US" sz="1500" kern="1200"/>
            <a:t> are used less frequently.</a:t>
          </a:r>
        </a:p>
      </dsp:txBody>
      <dsp:txXfrm>
        <a:off x="1736359" y="1879818"/>
        <a:ext cx="5300321" cy="1503341"/>
      </dsp:txXfrm>
    </dsp:sp>
    <dsp:sp modelId="{502A93BF-70BA-40E3-BCC7-819148449E2A}">
      <dsp:nvSpPr>
        <dsp:cNvPr id="0" name=""/>
        <dsp:cNvSpPr/>
      </dsp:nvSpPr>
      <dsp:spPr>
        <a:xfrm>
          <a:off x="0" y="3758995"/>
          <a:ext cx="7036681" cy="15033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27D567-B857-4F04-AE5E-6C2EA0358AEE}">
      <dsp:nvSpPr>
        <dsp:cNvPr id="0" name=""/>
        <dsp:cNvSpPr/>
      </dsp:nvSpPr>
      <dsp:spPr>
        <a:xfrm>
          <a:off x="454760" y="4097247"/>
          <a:ext cx="826837" cy="8268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B696F-DA9F-47B0-B3B8-34FB133DE048}">
      <dsp:nvSpPr>
        <dsp:cNvPr id="0" name=""/>
        <dsp:cNvSpPr/>
      </dsp:nvSpPr>
      <dsp:spPr>
        <a:xfrm>
          <a:off x="1736359" y="3758995"/>
          <a:ext cx="5300321" cy="150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04" tIns="159104" rIns="159104" bIns="15910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Vaccination and ARV Usage</a:t>
          </a:r>
          <a:r>
            <a:rPr lang="en-US" sz="1500" kern="1200"/>
            <a:t>: The positive correlation between </a:t>
          </a:r>
          <a:r>
            <a:rPr lang="en-US" sz="1500" b="1" kern="1200"/>
            <a:t>dog vaccinations</a:t>
          </a:r>
          <a:r>
            <a:rPr lang="en-US" sz="1500" kern="1200"/>
            <a:t> and </a:t>
          </a:r>
          <a:r>
            <a:rPr lang="en-US" sz="1500" b="1" kern="1200"/>
            <a:t>ARV usage</a:t>
          </a:r>
          <a:r>
            <a:rPr lang="en-US" sz="1500" kern="1200"/>
            <a:t> indicates that vaccination programs might be associated with a higher need for </a:t>
          </a:r>
          <a:r>
            <a:rPr lang="en-US" sz="1500" b="1" kern="1200"/>
            <a:t>ARV</a:t>
          </a:r>
          <a:r>
            <a:rPr lang="en-US" sz="1500" kern="1200"/>
            <a:t>, perhaps due to increased awareness or increased treatment needs in areas with higher exposure.</a:t>
          </a:r>
        </a:p>
      </dsp:txBody>
      <dsp:txXfrm>
        <a:off x="1736359" y="3758995"/>
        <a:ext cx="5300321" cy="1503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6B65E-AE5E-4CF1-82E9-F36035CF2DE3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670C2-501B-412C-93EE-55AAE8B7F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64E55-F741-4EB5-BBD8-7AD629DA7DCF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C982-702A-418B-94C8-4F562B58BF70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5E53E-E583-476D-921A-FB91C951995F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E99E-C0FE-4FFD-BCCC-CE00D2F67F3F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6DD7-4EEB-42B1-97BC-0DFA6FE72D6E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5C9E-C4F3-4E93-97AF-0043C957F380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433-BEF6-4673-9604-FE9164ED7116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922-F9CB-43A0-9CDE-8A0F684A3683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ABB9-2A16-455B-96C3-837F1AEF3BBC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CC1B4-43A5-4770-8FFC-CB8073944AD2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0A23D-9EE2-4D32-9E02-6447462DE9F3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DF2DD-CF45-4BB9-A1F3-A4B33517D1BC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Short Thesis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7464" y="248575"/>
            <a:ext cx="10972800" cy="110762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Bangladesh Army University of Science and Technology (BAUST)</a:t>
            </a:r>
            <a:br>
              <a:rPr lang="en-US" sz="3200" b="1" dirty="0">
                <a:latin typeface="+mn-lt"/>
              </a:rPr>
            </a:br>
            <a:r>
              <a:rPr lang="en-US" sz="3200" b="1" dirty="0">
                <a:latin typeface="+mn-lt"/>
              </a:rPr>
              <a:t>Saidpur Cantonment, </a:t>
            </a:r>
            <a:r>
              <a:rPr lang="en-US" sz="3200" b="1" dirty="0" err="1">
                <a:latin typeface="+mn-lt"/>
              </a:rPr>
              <a:t>Nilphamari</a:t>
            </a:r>
            <a:endParaRPr lang="en-US" sz="32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92" y="1444604"/>
            <a:ext cx="12101008" cy="1880488"/>
          </a:xfrm>
        </p:spPr>
        <p:txBody>
          <a:bodyPr>
            <a:normAutofit/>
          </a:bodyPr>
          <a:lstStyle/>
          <a:p>
            <a:r>
              <a:rPr lang="en-US" sz="2800" b="1" dirty="0"/>
              <a:t>Department of Computer Science and Engineering (CSE)</a:t>
            </a:r>
          </a:p>
          <a:p>
            <a:endParaRPr lang="en-US" sz="800" dirty="0">
              <a:latin typeface="Sanskrit Text" panose="020B0502040204020203" pitchFamily="18" charset="0"/>
              <a:cs typeface="Sanskrit Text" panose="020B05020402040202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9" y="302259"/>
            <a:ext cx="975561" cy="10002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0" y="3992450"/>
            <a:ext cx="5687628" cy="2532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6504373" y="4670344"/>
            <a:ext cx="5595891" cy="1765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51122D-71B2-335F-A680-1C1A4D2EACA8}"/>
              </a:ext>
            </a:extLst>
          </p:cNvPr>
          <p:cNvSpPr txBox="1"/>
          <p:nvPr/>
        </p:nvSpPr>
        <p:spPr>
          <a:xfrm>
            <a:off x="2031999" y="1922844"/>
            <a:ext cx="85898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Course Code: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4000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Course Title: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/ Thesis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Title: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 Using Machine Learning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575DD0-A85C-AC2F-A747-FB4345034C87}"/>
              </a:ext>
            </a:extLst>
          </p:cNvPr>
          <p:cNvSpPr txBox="1"/>
          <p:nvPr/>
        </p:nvSpPr>
        <p:spPr>
          <a:xfrm>
            <a:off x="4701937" y="2928617"/>
            <a:ext cx="1911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Date</a:t>
            </a:r>
            <a:r>
              <a:rPr lang="en-US" dirty="0"/>
              <a:t>:18/01/2026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5BE427-84A0-8A77-DBAC-57029B4AF473}"/>
              </a:ext>
            </a:extLst>
          </p:cNvPr>
          <p:cNvSpPr txBox="1"/>
          <p:nvPr/>
        </p:nvSpPr>
        <p:spPr>
          <a:xfrm>
            <a:off x="0" y="4937352"/>
            <a:ext cx="51436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Abdullah Al Fahad (ID-220101010)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Turas Tasnim Aroni (ID-220101015)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B42F2-C5D4-37B7-622B-B8EB131D3151}"/>
              </a:ext>
            </a:extLst>
          </p:cNvPr>
          <p:cNvSpPr txBox="1"/>
          <p:nvPr/>
        </p:nvSpPr>
        <p:spPr>
          <a:xfrm>
            <a:off x="8378888" y="4937352"/>
            <a:ext cx="35814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K Z Rasel Rahman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Nadim Reza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BD3D1-62D1-CB84-6540-728160819A6F}"/>
              </a:ext>
            </a:extLst>
          </p:cNvPr>
          <p:cNvSpPr txBox="1"/>
          <p:nvPr/>
        </p:nvSpPr>
        <p:spPr>
          <a:xfrm>
            <a:off x="638239" y="4475686"/>
            <a:ext cx="278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573F78-3391-F5E4-E02D-4EDA736DCD28}"/>
              </a:ext>
            </a:extLst>
          </p:cNvPr>
          <p:cNvSpPr txBox="1"/>
          <p:nvPr/>
        </p:nvSpPr>
        <p:spPr>
          <a:xfrm>
            <a:off x="7595912" y="4475687"/>
            <a:ext cx="4364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By: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8575"/>
            <a:ext cx="12192000" cy="50720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4518" y="1224448"/>
            <a:ext cx="12192000" cy="5493725"/>
          </a:xfrm>
        </p:spPr>
        <p:txBody>
          <a:bodyPr>
            <a:normAutofit/>
          </a:bodyPr>
          <a:lstStyle/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Progress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/ Thesis Timeline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Roles &amp; Contributions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35611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2"/>
                </a:solidFill>
              </a:rPr>
              <a:t>Rabies Virus Prediction</a:t>
            </a:r>
            <a:endParaRPr lang="en-US" sz="1400" dirty="0">
              <a:solidFill>
                <a:schemeClr val="bg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2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42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7"/>
            <a:ext cx="12115060" cy="665619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Rabies causes about 59,000 deaths worldwide each year. </a:t>
            </a:r>
          </a:p>
          <a:p>
            <a:r>
              <a:rPr lang="en-US" dirty="0"/>
              <a:t>In Bangladesh, it is the third most affected country, with nearly 96% of human rabies cases linked to dog bites.</a:t>
            </a:r>
          </a:p>
          <a:p>
            <a:r>
              <a:rPr lang="en-US" dirty="0"/>
              <a:t>The estimated number of dogs in Bangladesh is approximately 1.67 million.</a:t>
            </a:r>
          </a:p>
          <a:p>
            <a:r>
              <a:rPr lang="en-US" dirty="0"/>
              <a:t>The dog population density is about 12.83 dogs per square </a:t>
            </a:r>
            <a:r>
              <a:rPr lang="en-US" dirty="0" err="1"/>
              <a:t>kilometer.For</a:t>
            </a:r>
            <a:r>
              <a:rPr lang="en-US" dirty="0"/>
              <a:t> every 86.7 humans, there is approximately 1 dog.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27559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867189" y="661273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3</a:t>
            </a:fld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Picture 8" descr="A collage of pictures of rabies">
            <a:extLst>
              <a:ext uri="{FF2B5EF4-FFF2-40B4-BE49-F238E27FC236}">
                <a16:creationId xmlns:a16="http://schemas.microsoft.com/office/drawing/2014/main" id="{4D423268-13D2-B8F1-EBB3-89D1D8A47B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364" y="3992728"/>
            <a:ext cx="4162035" cy="17523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4AC57C-6C9D-CDD9-115E-7ED387EB302D}"/>
              </a:ext>
            </a:extLst>
          </p:cNvPr>
          <p:cNvSpPr txBox="1"/>
          <p:nvPr/>
        </p:nvSpPr>
        <p:spPr>
          <a:xfrm>
            <a:off x="4981326" y="5893013"/>
            <a:ext cx="1886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Figure.1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Rabis Virus [1]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F3CE7-F91B-C7AB-FC39-541FFEC2E9D6}"/>
              </a:ext>
            </a:extLst>
          </p:cNvPr>
          <p:cNvSpPr txBox="1"/>
          <p:nvPr/>
        </p:nvSpPr>
        <p:spPr>
          <a:xfrm>
            <a:off x="3867188" y="6235171"/>
            <a:ext cx="428621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[1]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source: https://images.app.goo.gl/1UBPyfMU2TbtVUYf7 </a:t>
            </a:r>
          </a:p>
        </p:txBody>
      </p:sp>
    </p:spTree>
    <p:extLst>
      <p:ext uri="{BB962C8B-B14F-4D97-AF65-F5344CB8AC3E}">
        <p14:creationId xmlns:p14="http://schemas.microsoft.com/office/powerpoint/2010/main" val="1869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9368"/>
            <a:ext cx="12192000" cy="512129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7747"/>
            <a:ext cx="12111135" cy="543974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Accurate predictions of </a:t>
            </a:r>
            <a:r>
              <a:rPr lang="en-US" b="1" dirty="0"/>
              <a:t>rabies cases</a:t>
            </a:r>
            <a:r>
              <a:rPr lang="en-US" dirty="0"/>
              <a:t> and </a:t>
            </a:r>
            <a:r>
              <a:rPr lang="en-US" b="1" dirty="0"/>
              <a:t>ARV usage</a:t>
            </a:r>
            <a:r>
              <a:rPr lang="en-US" dirty="0"/>
              <a:t> are essential for proper </a:t>
            </a:r>
            <a:r>
              <a:rPr lang="en-US" b="1" dirty="0"/>
              <a:t>resource allocation</a:t>
            </a:r>
            <a:r>
              <a:rPr lang="en-US" dirty="0"/>
              <a:t> and effective </a:t>
            </a:r>
            <a:r>
              <a:rPr lang="en-US" b="1" dirty="0"/>
              <a:t>public health planning</a:t>
            </a:r>
            <a:r>
              <a:rPr lang="en-US" dirty="0"/>
              <a:t> ;</a:t>
            </a:r>
          </a:p>
          <a:p>
            <a:r>
              <a:rPr lang="en-US" dirty="0"/>
              <a:t>There is a need to forecast the </a:t>
            </a:r>
            <a:r>
              <a:rPr lang="en-US" b="1" dirty="0"/>
              <a:t>impact of vaccination programs</a:t>
            </a:r>
            <a:r>
              <a:rPr lang="en-US" dirty="0"/>
              <a:t> and </a:t>
            </a:r>
            <a:r>
              <a:rPr lang="en-US" b="1" dirty="0"/>
              <a:t>ARV usage</a:t>
            </a:r>
            <a:r>
              <a:rPr lang="en-US" dirty="0"/>
              <a:t> on </a:t>
            </a:r>
            <a:r>
              <a:rPr lang="en-US" b="1" dirty="0"/>
              <a:t>future rabies cases</a:t>
            </a:r>
            <a:r>
              <a:rPr lang="en-US" dirty="0"/>
              <a:t> to ensure effective resource allocation and intervention planning ;</a:t>
            </a:r>
          </a:p>
          <a:p>
            <a:r>
              <a:rPr lang="en-US" dirty="0"/>
              <a:t>Developing predictive models will enable </a:t>
            </a:r>
            <a:r>
              <a:rPr lang="en-US" b="1" dirty="0"/>
              <a:t>data-driven decision-making</a:t>
            </a:r>
            <a:r>
              <a:rPr lang="en-US" dirty="0"/>
              <a:t> to enhance </a:t>
            </a:r>
            <a:r>
              <a:rPr lang="en-US" b="1" dirty="0"/>
              <a:t>rabies control efforts</a:t>
            </a:r>
            <a:r>
              <a:rPr lang="en-US" dirty="0"/>
              <a:t> and meet global rabies elimination targets;</a:t>
            </a:r>
          </a:p>
          <a:p>
            <a:r>
              <a:rPr lang="en-US" dirty="0"/>
              <a:t>No reliable </a:t>
            </a:r>
            <a:r>
              <a:rPr lang="en-US" b="1" dirty="0"/>
              <a:t>time-series forecasting models</a:t>
            </a:r>
            <a:r>
              <a:rPr lang="en-US" dirty="0"/>
              <a:t> exist to predict future </a:t>
            </a:r>
            <a:r>
              <a:rPr lang="en-US" b="1" dirty="0"/>
              <a:t>rabies cases</a:t>
            </a:r>
            <a:r>
              <a:rPr lang="en-US" dirty="0"/>
              <a:t> based on historical trends;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49124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55473" y="6629145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4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9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1316"/>
            <a:ext cx="12192000" cy="467641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3206AAC0-EFCC-A0F0-4E7D-B502E378B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478249"/>
              </p:ext>
            </p:extLst>
          </p:nvPr>
        </p:nvGraphicFramePr>
        <p:xfrm>
          <a:off x="0" y="758957"/>
          <a:ext cx="12192000" cy="6108614"/>
        </p:xfrm>
        <a:graphic>
          <a:graphicData uri="http://schemas.openxmlformats.org/drawingml/2006/table">
            <a:tbl>
              <a:tblPr/>
              <a:tblGrid>
                <a:gridCol w="2142636">
                  <a:extLst>
                    <a:ext uri="{9D8B030D-6E8A-4147-A177-3AD203B41FA5}">
                      <a16:colId xmlns:a16="http://schemas.microsoft.com/office/drawing/2014/main" val="73903397"/>
                    </a:ext>
                  </a:extLst>
                </a:gridCol>
                <a:gridCol w="2512341">
                  <a:extLst>
                    <a:ext uri="{9D8B030D-6E8A-4147-A177-3AD203B41FA5}">
                      <a16:colId xmlns:a16="http://schemas.microsoft.com/office/drawing/2014/main" val="2569009781"/>
                    </a:ext>
                  </a:extLst>
                </a:gridCol>
                <a:gridCol w="2512341">
                  <a:extLst>
                    <a:ext uri="{9D8B030D-6E8A-4147-A177-3AD203B41FA5}">
                      <a16:colId xmlns:a16="http://schemas.microsoft.com/office/drawing/2014/main" val="854830860"/>
                    </a:ext>
                  </a:extLst>
                </a:gridCol>
                <a:gridCol w="2512341">
                  <a:extLst>
                    <a:ext uri="{9D8B030D-6E8A-4147-A177-3AD203B41FA5}">
                      <a16:colId xmlns:a16="http://schemas.microsoft.com/office/drawing/2014/main" val="3093755627"/>
                    </a:ext>
                  </a:extLst>
                </a:gridCol>
                <a:gridCol w="2512341">
                  <a:extLst>
                    <a:ext uri="{9D8B030D-6E8A-4147-A177-3AD203B41FA5}">
                      <a16:colId xmlns:a16="http://schemas.microsoft.com/office/drawing/2014/main" val="1167058452"/>
                    </a:ext>
                  </a:extLst>
                </a:gridCol>
              </a:tblGrid>
              <a:tr h="423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i="1" dirty="0"/>
                        <a:t>Author(s)</a:t>
                      </a:r>
                      <a:endParaRPr lang="en-US" sz="20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i="1" dirty="0"/>
                        <a:t>Year</a:t>
                      </a:r>
                      <a:endParaRPr lang="en-US" sz="20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i="1" dirty="0"/>
                        <a:t>Titles</a:t>
                      </a:r>
                      <a:endParaRPr lang="en-US" sz="20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i="1" dirty="0"/>
                        <a:t>Short Summary</a:t>
                      </a:r>
                      <a:endParaRPr lang="en-US" sz="20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i="1" dirty="0"/>
                        <a:t>Limitation </a:t>
                      </a:r>
                      <a:endParaRPr lang="en-US" sz="20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81799"/>
                  </a:ext>
                </a:extLst>
              </a:tr>
              <a:tr h="214906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/>
                        <a:t>A. Asare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Machine Learning-Based Prediction of Rabies Outbreaks Using Epidemiological and Environmental Data in Africa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ML models (RF, </a:t>
                      </a:r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LightGBM</a:t>
                      </a:r>
                      <a:r>
                        <a:rPr lang="en-US" sz="2000" dirty="0"/>
                        <a:t>) used to predict rabies outbreaks using epidemiological + environmental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Moderate accuracy; vaccination rate, mobility, and socio-economic factors not fully integrated.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156209"/>
                  </a:ext>
                </a:extLst>
              </a:tr>
              <a:tr h="1282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2000" b="1" dirty="0"/>
                        <a:t>A. A. Efat et al.</a:t>
                      </a:r>
                      <a:endParaRPr lang="en-US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BiLSTM</a:t>
                      </a:r>
                      <a:r>
                        <a:rPr lang="en-US" sz="2000" dirty="0"/>
                        <a:t>-VHP: </a:t>
                      </a:r>
                      <a:r>
                        <a:rPr lang="en-US" sz="2000" dirty="0" err="1"/>
                        <a:t>BiLSTM</a:t>
                      </a:r>
                      <a:r>
                        <a:rPr lang="en-US" sz="2000" dirty="0"/>
                        <a:t>-Powered Network for Viral Host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BiLSTM</a:t>
                      </a:r>
                      <a:r>
                        <a:rPr lang="en-US" sz="2000" dirty="0"/>
                        <a:t> model predicts viral hosts from genomic 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Lower performance for rabies compared to other viruses; dataset imbalance affects generalization.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083388"/>
                  </a:ext>
                </a:extLst>
              </a:tr>
              <a:tr h="1878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M. Charles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Evaluating Stochastic CTMC and Deterministic Models in Rabies 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Compares stochastic CTMC and deterministic models for rabies spread in human and dog population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High computational cost; real-world parameter estimation is difficult.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27103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51150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43883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5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01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752E-CB58-0C17-AC23-DD554924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8576"/>
            <a:ext cx="12192001" cy="730480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Related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138E-78D8-593C-BA39-119A053AA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08364"/>
            <a:ext cx="12192001" cy="5441858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>
              <a:solidFill>
                <a:prstClr val="black"/>
              </a:solidFill>
            </a:endParaRPr>
          </a:p>
          <a:p>
            <a:pPr marL="228600" marR="0" lvl="0" indent="-2286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4495E-6FEE-B4FF-1CED-C3ADCC6C4C47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2DA207-6848-55F4-8D1D-7DE5B0B95054}"/>
              </a:ext>
            </a:extLst>
          </p:cNvPr>
          <p:cNvSpPr/>
          <p:nvPr/>
        </p:nvSpPr>
        <p:spPr>
          <a:xfrm>
            <a:off x="0" y="6578353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18/01/2026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D2B4C-188B-7FA0-130D-93DDA1627D6C}"/>
              </a:ext>
            </a:extLst>
          </p:cNvPr>
          <p:cNvSpPr txBox="1"/>
          <p:nvPr/>
        </p:nvSpPr>
        <p:spPr>
          <a:xfrm>
            <a:off x="2902527" y="6550223"/>
            <a:ext cx="6100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654BDB-4C5F-F32B-0C1E-A105F25D21AA}"/>
              </a:ext>
            </a:extLst>
          </p:cNvPr>
          <p:cNvSpPr txBox="1"/>
          <p:nvPr/>
        </p:nvSpPr>
        <p:spPr>
          <a:xfrm>
            <a:off x="8192655" y="6550222"/>
            <a:ext cx="386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2B4DCDE-E0BE-5F67-998B-68590BBD4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20517"/>
              </p:ext>
            </p:extLst>
          </p:nvPr>
        </p:nvGraphicFramePr>
        <p:xfrm>
          <a:off x="110835" y="1182255"/>
          <a:ext cx="11942620" cy="5303520"/>
        </p:xfrm>
        <a:graphic>
          <a:graphicData uri="http://schemas.openxmlformats.org/drawingml/2006/table">
            <a:tbl>
              <a:tblPr/>
              <a:tblGrid>
                <a:gridCol w="2388524">
                  <a:extLst>
                    <a:ext uri="{9D8B030D-6E8A-4147-A177-3AD203B41FA5}">
                      <a16:colId xmlns:a16="http://schemas.microsoft.com/office/drawing/2014/main" val="2694926360"/>
                    </a:ext>
                  </a:extLst>
                </a:gridCol>
                <a:gridCol w="2388524">
                  <a:extLst>
                    <a:ext uri="{9D8B030D-6E8A-4147-A177-3AD203B41FA5}">
                      <a16:colId xmlns:a16="http://schemas.microsoft.com/office/drawing/2014/main" val="1067858871"/>
                    </a:ext>
                  </a:extLst>
                </a:gridCol>
                <a:gridCol w="2388524">
                  <a:extLst>
                    <a:ext uri="{9D8B030D-6E8A-4147-A177-3AD203B41FA5}">
                      <a16:colId xmlns:a16="http://schemas.microsoft.com/office/drawing/2014/main" val="2021340671"/>
                    </a:ext>
                  </a:extLst>
                </a:gridCol>
                <a:gridCol w="2388524">
                  <a:extLst>
                    <a:ext uri="{9D8B030D-6E8A-4147-A177-3AD203B41FA5}">
                      <a16:colId xmlns:a16="http://schemas.microsoft.com/office/drawing/2014/main" val="2683318649"/>
                    </a:ext>
                  </a:extLst>
                </a:gridCol>
                <a:gridCol w="2388524">
                  <a:extLst>
                    <a:ext uri="{9D8B030D-6E8A-4147-A177-3AD203B41FA5}">
                      <a16:colId xmlns:a16="http://schemas.microsoft.com/office/drawing/2014/main" val="2123331468"/>
                    </a:ext>
                  </a:extLst>
                </a:gridCol>
              </a:tblGrid>
              <a:tr h="1057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H. </a:t>
                      </a:r>
                      <a:r>
                        <a:rPr lang="en-US" sz="2400" b="1" dirty="0" err="1"/>
                        <a:t>Fawareh</a:t>
                      </a:r>
                      <a:r>
                        <a:rPr lang="en-US" sz="2400" b="1" dirty="0"/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AI and Machine Learning Applications in Disease Prediction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Reviews AI/ML-based disease prediction systems with focus on public health decision support.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Mostly review-based; lacks large-scale experimental validation.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29089"/>
                  </a:ext>
                </a:extLst>
              </a:tr>
              <a:tr h="2009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S. Rahman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Deep Learning Models for Zoonotic Disease Forecasting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Deep learning models applied to zoonotic disease forecasting including rabies-like infections.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Requires large labeled datasets; limited performance in low-resource regions.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512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24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latin typeface="+mn-lt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Assess the </a:t>
            </a:r>
            <a:r>
              <a:rPr lang="en-US" b="1" dirty="0"/>
              <a:t>relationship</a:t>
            </a:r>
            <a:r>
              <a:rPr lang="en-US" dirty="0"/>
              <a:t> between </a:t>
            </a:r>
            <a:r>
              <a:rPr lang="en-US" b="1" dirty="0"/>
              <a:t>dog vaccination rates</a:t>
            </a:r>
            <a:r>
              <a:rPr lang="en-US" dirty="0"/>
              <a:t> and </a:t>
            </a:r>
            <a:r>
              <a:rPr lang="en-US" b="1" dirty="0"/>
              <a:t>ARV usage</a:t>
            </a:r>
            <a:r>
              <a:rPr lang="en-US" dirty="0"/>
              <a:t> on the number of </a:t>
            </a:r>
            <a:r>
              <a:rPr lang="en-US" b="1" dirty="0"/>
              <a:t>human rabies cases</a:t>
            </a:r>
            <a:r>
              <a:rPr lang="en-US" dirty="0"/>
              <a:t>.;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Develop a predictive model to </a:t>
            </a:r>
            <a:r>
              <a:rPr lang="en-US" b="1" dirty="0"/>
              <a:t>forecast human rabies cases</a:t>
            </a:r>
            <a:r>
              <a:rPr lang="en-US" dirty="0"/>
              <a:t> based on various features such as </a:t>
            </a:r>
            <a:r>
              <a:rPr lang="en-US" b="1" dirty="0"/>
              <a:t>dogs vaccinated</a:t>
            </a:r>
            <a:r>
              <a:rPr lang="en-US" dirty="0"/>
              <a:t>, </a:t>
            </a:r>
            <a:r>
              <a:rPr lang="en-US" b="1" dirty="0"/>
              <a:t>ARV usage</a:t>
            </a:r>
            <a:r>
              <a:rPr lang="en-US" dirty="0"/>
              <a:t>, and historical </a:t>
            </a:r>
            <a:r>
              <a:rPr lang="en-US" b="1" dirty="0"/>
              <a:t>rabies data</a:t>
            </a:r>
            <a:r>
              <a:rPr lang="en-US" dirty="0"/>
              <a:t>..</a:t>
            </a:r>
          </a:p>
          <a:p>
            <a:r>
              <a:rPr lang="en-US" b="1" dirty="0"/>
              <a:t>Forecast future human rabies cases</a:t>
            </a:r>
            <a:r>
              <a:rPr lang="en-US" dirty="0"/>
              <a:t> and understand how interventions like </a:t>
            </a:r>
            <a:r>
              <a:rPr lang="en-US" b="1" dirty="0"/>
              <a:t>dog vaccination</a:t>
            </a:r>
            <a:r>
              <a:rPr lang="en-US" dirty="0"/>
              <a:t> and </a:t>
            </a:r>
            <a:r>
              <a:rPr lang="en-US" b="1" dirty="0"/>
              <a:t>ARV treatment</a:t>
            </a:r>
            <a:r>
              <a:rPr lang="en-US" dirty="0"/>
              <a:t> will impact the </a:t>
            </a:r>
            <a:r>
              <a:rPr lang="en-US" b="1" dirty="0"/>
              <a:t>prevention</a:t>
            </a:r>
            <a:r>
              <a:rPr lang="en-US" dirty="0"/>
              <a:t> and </a:t>
            </a:r>
            <a:r>
              <a:rPr lang="en-US" b="1" dirty="0"/>
              <a:t>control</a:t>
            </a:r>
            <a:r>
              <a:rPr lang="en-US" dirty="0"/>
              <a:t> of rabies in </a:t>
            </a:r>
            <a:r>
              <a:rPr lang="en-US" b="1" dirty="0"/>
              <a:t>Bangladesh</a:t>
            </a:r>
            <a:r>
              <a:rPr lang="en-US" dirty="0"/>
              <a:t> or any specific region.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15719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54304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7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83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2214"/>
            <a:ext cx="12192000" cy="727983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7724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35610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21093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8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CBE681-FDDC-3644-1B94-0420902F07EF}"/>
              </a:ext>
            </a:extLst>
          </p:cNvPr>
          <p:cNvSpPr txBox="1"/>
          <p:nvPr/>
        </p:nvSpPr>
        <p:spPr>
          <a:xfrm>
            <a:off x="4236720" y="1152205"/>
            <a:ext cx="776307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Data Acquisition and Integration: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Collected data from multiple sources, including </a:t>
            </a:r>
            <a:r>
              <a:rPr lang="en-US" sz="2000" dirty="0" err="1"/>
              <a:t>immunisation</a:t>
            </a:r>
            <a:r>
              <a:rPr lang="en-US" sz="2000" dirty="0"/>
              <a:t> records, mass dog vaccination (MDV) databases, and rabies virus sequences.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Ensured data covered a consistent time frame for temporal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Data Cleaning</a:t>
            </a:r>
            <a:r>
              <a:rPr lang="en-US" sz="20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Reviewed datasets for completeness and consistency, addressing discrepancies or missing values where possible.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Dog Population Estimation</a:t>
            </a:r>
            <a:r>
              <a:rPr lang="en-US" sz="20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Calculated dog population density and human-to-dog ratios using district area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Vaccination Coverage Calculation: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Determined district-wise vaccination coverage by dividing the number of vaccinated dogs by estimated dog populations.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 Calculated the number of vaccination rounds per district from program records..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8B359D-3DC7-BDF1-767D-72C096C1FA2F}"/>
              </a:ext>
            </a:extLst>
          </p:cNvPr>
          <p:cNvSpPr txBox="1"/>
          <p:nvPr/>
        </p:nvSpPr>
        <p:spPr>
          <a:xfrm>
            <a:off x="339364" y="6007281"/>
            <a:ext cx="3454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Figure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2: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Methodoly Diagram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9A11033-FCAD-1705-5900-DAA16DA15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06" y="970197"/>
            <a:ext cx="3601716" cy="5197338"/>
          </a:xfrm>
        </p:spPr>
      </p:pic>
    </p:spTree>
    <p:extLst>
      <p:ext uri="{BB962C8B-B14F-4D97-AF65-F5344CB8AC3E}">
        <p14:creationId xmlns:p14="http://schemas.microsoft.com/office/powerpoint/2010/main" val="336204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611957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26479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751781"/>
            <a:ext cx="4114800" cy="15225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9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B2479B-5502-A68A-468E-BA5E03C00CBB}"/>
              </a:ext>
            </a:extLst>
          </p:cNvPr>
          <p:cNvSpPr txBox="1"/>
          <p:nvPr/>
        </p:nvSpPr>
        <p:spPr>
          <a:xfrm>
            <a:off x="2918460" y="6215402"/>
            <a:ext cx="6774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[2]</a:t>
            </a:r>
            <a:r>
              <a:rPr lang="en-US" sz="1400" dirty="0" err="1"/>
              <a:t>sources:https</a:t>
            </a:r>
            <a:r>
              <a:rPr lang="en-US" sz="1400" dirty="0"/>
              <a:t>://www.thelancet.com/journals/lansea/article/PIIS2772-3682(24)00102-1/</a:t>
            </a:r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6A066-6EF4-20FF-60EB-C41E4F32CD30}"/>
              </a:ext>
            </a:extLst>
          </p:cNvPr>
          <p:cNvSpPr txBox="1"/>
          <p:nvPr/>
        </p:nvSpPr>
        <p:spPr>
          <a:xfrm>
            <a:off x="240526" y="1342509"/>
            <a:ext cx="11563166" cy="3165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dataset consists of time-series records where each row represents monthly rabies-related data. The columns include temporal information (year and month), the number of dogs vaccinated, anti-rabies vaccine usage, and the corresponding number of human rabies cases. The target variable for prediction is human rabies cases, while the remaining columns are used as input features.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dataset has imbalanced classes, with more </a:t>
            </a:r>
            <a:r>
              <a:rPr lang="en-US" sz="2400" b="1" dirty="0"/>
              <a:t>positive rabies</a:t>
            </a:r>
            <a:r>
              <a:rPr lang="en-US" sz="2400" dirty="0"/>
              <a:t> cases (1).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The dataset was split into 70% training and 30% testing</a:t>
            </a:r>
          </a:p>
        </p:txBody>
      </p:sp>
    </p:spTree>
    <p:extLst>
      <p:ext uri="{BB962C8B-B14F-4D97-AF65-F5344CB8AC3E}">
        <p14:creationId xmlns:p14="http://schemas.microsoft.com/office/powerpoint/2010/main" val="242693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E274-DBFC-D2D5-2F59-C29B9E32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465"/>
            <a:ext cx="12192000" cy="493857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(Cont.)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E2C6D-82A4-8B9B-89A2-D928F7B53E15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C49674-3A95-ABAA-4EA6-BC945798BADE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1EDFE0-12EE-22FC-2CB5-6A30BDB4E2AC}"/>
              </a:ext>
            </a:extLst>
          </p:cNvPr>
          <p:cNvSpPr txBox="1"/>
          <p:nvPr/>
        </p:nvSpPr>
        <p:spPr>
          <a:xfrm>
            <a:off x="5330628" y="6098730"/>
            <a:ext cx="13774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Table:1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9DB2E-BF30-2E21-22B6-5FDAFF1CC07B}"/>
              </a:ext>
            </a:extLst>
          </p:cNvPr>
          <p:cNvSpPr txBox="1"/>
          <p:nvPr/>
        </p:nvSpPr>
        <p:spPr>
          <a:xfrm>
            <a:off x="2745509" y="6550223"/>
            <a:ext cx="6100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1DB8C0-7A9B-52D4-3F15-3074D1BBF2C8}"/>
              </a:ext>
            </a:extLst>
          </p:cNvPr>
          <p:cNvSpPr txBox="1"/>
          <p:nvPr/>
        </p:nvSpPr>
        <p:spPr>
          <a:xfrm>
            <a:off x="113147" y="6564286"/>
            <a:ext cx="2195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3F88B1-949E-EC44-60AF-DDBFCA46C371}"/>
              </a:ext>
            </a:extLst>
          </p:cNvPr>
          <p:cNvSpPr txBox="1"/>
          <p:nvPr/>
        </p:nvSpPr>
        <p:spPr>
          <a:xfrm>
            <a:off x="9938326" y="6550223"/>
            <a:ext cx="2140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2A36D9-2F84-ACC9-68C8-7E97D0FEA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84562"/>
              </p:ext>
            </p:extLst>
          </p:nvPr>
        </p:nvGraphicFramePr>
        <p:xfrm>
          <a:off x="2998952" y="1069803"/>
          <a:ext cx="5969000" cy="43513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3338433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88157093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6872532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48013505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84506663"/>
                    </a:ext>
                  </a:extLst>
                </a:gridCol>
              </a:tblGrid>
              <a:tr h="1723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2012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10787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3047830928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10220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451527451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11550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1529432821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8742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10780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2979508672"/>
                  </a:ext>
                </a:extLst>
              </a:tr>
              <a:tr h="2154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10500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4292422396"/>
                  </a:ext>
                </a:extLst>
              </a:tr>
              <a:tr h="2154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8151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10700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366410720"/>
                  </a:ext>
                </a:extLst>
              </a:tr>
              <a:tr h="2154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6994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9580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1520937796"/>
                  </a:ext>
                </a:extLst>
              </a:tr>
              <a:tr h="2154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12576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12100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3451291251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8978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10200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3346211563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10100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4285404676"/>
                  </a:ext>
                </a:extLst>
              </a:tr>
              <a:tr h="2154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11800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3810953804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11127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1946305615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2013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13327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ctr"/>
                </a:tc>
                <a:extLst>
                  <a:ext uri="{0D108BD9-81ED-4DB2-BD59-A6C34878D82A}">
                    <a16:rowId xmlns:a16="http://schemas.microsoft.com/office/drawing/2014/main" val="1868033252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8826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12758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921933370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13429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2672383620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5129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11783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664627858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2134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12529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345277095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13228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082908783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12724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278668916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12484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417894333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15319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049810016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16519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700332170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17243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2295549996"/>
                  </a:ext>
                </a:extLst>
              </a:tr>
              <a:tr h="1723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15817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80" marR="7180" marT="7180" marB="0" anchor="b"/>
                </a:tc>
                <a:extLst>
                  <a:ext uri="{0D108BD9-81ED-4DB2-BD59-A6C34878D82A}">
                    <a16:rowId xmlns:a16="http://schemas.microsoft.com/office/drawing/2014/main" val="392059058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CAF482-1D4F-166B-CCD4-C3B63C440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486001"/>
              </p:ext>
            </p:extLst>
          </p:nvPr>
        </p:nvGraphicFramePr>
        <p:xfrm>
          <a:off x="2998952" y="886923"/>
          <a:ext cx="5969000" cy="18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259361943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9191945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9305964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88121223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765828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Year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Month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Number of dogs vaccinated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Human Rabies cases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Number of ARV Used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755352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5D248F3-4518-9DF9-2E8B-DCC733856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436062"/>
              </p:ext>
            </p:extLst>
          </p:nvPr>
        </p:nvGraphicFramePr>
        <p:xfrm>
          <a:off x="2998952" y="5435204"/>
          <a:ext cx="5969000" cy="18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99987595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70599013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296158186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39222192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8902159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………….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……….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……..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………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..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265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09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048A-F129-6E30-B48F-66766D2B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44A2-E912-5397-131F-C1D36DA1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465"/>
            <a:ext cx="12192000" cy="493857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(Cont.)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C27272-CD58-E069-7384-A235144955F6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DD553D-F872-7609-4199-0526BDC7EE2A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3E2923-D660-AF5F-BBF1-9D6E45971BAB}"/>
              </a:ext>
            </a:extLst>
          </p:cNvPr>
          <p:cNvSpPr txBox="1"/>
          <p:nvPr/>
        </p:nvSpPr>
        <p:spPr>
          <a:xfrm>
            <a:off x="2745509" y="6550223"/>
            <a:ext cx="6100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BBC4AE-D5FF-A371-F3E4-967B3BF6D042}"/>
              </a:ext>
            </a:extLst>
          </p:cNvPr>
          <p:cNvSpPr txBox="1"/>
          <p:nvPr/>
        </p:nvSpPr>
        <p:spPr>
          <a:xfrm>
            <a:off x="113147" y="6564286"/>
            <a:ext cx="2195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1935C7-C9C2-98EE-4E8E-1CE5C7615033}"/>
              </a:ext>
            </a:extLst>
          </p:cNvPr>
          <p:cNvSpPr txBox="1"/>
          <p:nvPr/>
        </p:nvSpPr>
        <p:spPr>
          <a:xfrm>
            <a:off x="9938326" y="6550223"/>
            <a:ext cx="2140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85347F-1E5D-47F3-D4AD-1A86FDFFA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4" y="1160021"/>
            <a:ext cx="7386320" cy="405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847105-5526-B19C-CD08-02789436C655}"/>
              </a:ext>
            </a:extLst>
          </p:cNvPr>
          <p:cNvSpPr txBox="1"/>
          <p:nvPr/>
        </p:nvSpPr>
        <p:spPr>
          <a:xfrm>
            <a:off x="1602791" y="5297574"/>
            <a:ext cx="481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Figure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3:Rabies Control Measures Over Time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dirty="0"/>
          </a:p>
        </p:txBody>
      </p:sp>
      <p:graphicFrame>
        <p:nvGraphicFramePr>
          <p:cNvPr id="2052" name="TextBox 3">
            <a:extLst>
              <a:ext uri="{FF2B5EF4-FFF2-40B4-BE49-F238E27FC236}">
                <a16:creationId xmlns:a16="http://schemas.microsoft.com/office/drawing/2014/main" id="{B3ED68D4-7728-F9DA-3232-F8849D5B6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821314"/>
              </p:ext>
            </p:extLst>
          </p:nvPr>
        </p:nvGraphicFramePr>
        <p:xfrm>
          <a:off x="7567126" y="903847"/>
          <a:ext cx="4132689" cy="5399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0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8575"/>
            <a:ext cx="12192000" cy="547150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b="1" dirty="0">
                <a:latin typeface="+mn-lt"/>
              </a:rPr>
              <a:t>Results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30463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76456" y="6653120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12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418E1-E80B-6AC8-9244-3E8A034E067B}"/>
              </a:ext>
            </a:extLst>
          </p:cNvPr>
          <p:cNvSpPr txBox="1"/>
          <p:nvPr/>
        </p:nvSpPr>
        <p:spPr>
          <a:xfrm>
            <a:off x="6158146" y="795725"/>
            <a:ext cx="1954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14ABB1-38BC-6B02-4A58-4F74DE86F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537493"/>
              </p:ext>
            </p:extLst>
          </p:nvPr>
        </p:nvGraphicFramePr>
        <p:xfrm>
          <a:off x="14798" y="838466"/>
          <a:ext cx="601905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675">
                  <a:extLst>
                    <a:ext uri="{9D8B030D-6E8A-4147-A177-3AD203B41FA5}">
                      <a16:colId xmlns:a16="http://schemas.microsoft.com/office/drawing/2014/main" val="3315087919"/>
                    </a:ext>
                  </a:extLst>
                </a:gridCol>
                <a:gridCol w="2367088">
                  <a:extLst>
                    <a:ext uri="{9D8B030D-6E8A-4147-A177-3AD203B41FA5}">
                      <a16:colId xmlns:a16="http://schemas.microsoft.com/office/drawing/2014/main" val="3731059244"/>
                    </a:ext>
                  </a:extLst>
                </a:gridCol>
                <a:gridCol w="1652295">
                  <a:extLst>
                    <a:ext uri="{9D8B030D-6E8A-4147-A177-3AD203B41FA5}">
                      <a16:colId xmlns:a16="http://schemas.microsoft.com/office/drawing/2014/main" val="1291553053"/>
                    </a:ext>
                  </a:extLst>
                </a:gridCol>
              </a:tblGrid>
              <a:tr h="283115">
                <a:tc>
                  <a:txBody>
                    <a:bodyPr/>
                    <a:lstStyle/>
                    <a:p>
                      <a:r>
                        <a:rPr lang="en-US" dirty="0" err="1"/>
                        <a:t>Matrics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55409"/>
                  </a:ext>
                </a:extLst>
              </a:tr>
              <a:tr h="707786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of squared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MSE = (1/n) * Σ (yi - y_hat_i)^2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70074"/>
                  </a:ext>
                </a:extLst>
              </a:tr>
              <a:tr h="920122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Square root of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dirty="0"/>
                        <a:t>RMSE = sqrt( (1/n) * Σ (yi - y_hat_i)^2 )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189981"/>
                  </a:ext>
                </a:extLst>
              </a:tr>
              <a:tr h="707786">
                <a:tc>
                  <a:txBody>
                    <a:bodyPr/>
                    <a:lstStyle/>
                    <a:p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of absolute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MAE = (1/n) * Σ |</a:t>
                      </a:r>
                      <a:r>
                        <a:rPr lang="es-ES" dirty="0" err="1"/>
                        <a:t>yi</a:t>
                      </a:r>
                      <a:r>
                        <a:rPr lang="es-ES" dirty="0"/>
                        <a:t> - </a:t>
                      </a:r>
                      <a:r>
                        <a:rPr lang="es-ES" dirty="0" err="1"/>
                        <a:t>y_hat_i</a:t>
                      </a:r>
                      <a:r>
                        <a:rPr lang="es-ES" dirty="0"/>
                        <a:t>|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13957"/>
                  </a:ext>
                </a:extLst>
              </a:tr>
              <a:tr h="1344794">
                <a:tc>
                  <a:txBody>
                    <a:bodyPr/>
                    <a:lstStyle/>
                    <a:p>
                      <a:r>
                        <a:rPr lang="en-US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 of absolute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MedianAE</a:t>
                      </a:r>
                      <a:r>
                        <a:rPr lang="es-ES" dirty="0"/>
                        <a:t> = median( |y1 - y_hat1|, |y2 - y_hat2|, ..., |</a:t>
                      </a:r>
                      <a:r>
                        <a:rPr lang="es-ES" dirty="0" err="1"/>
                        <a:t>yn</a:t>
                      </a:r>
                      <a:r>
                        <a:rPr lang="es-ES" dirty="0"/>
                        <a:t> - </a:t>
                      </a:r>
                      <a:r>
                        <a:rPr lang="es-ES" dirty="0" err="1"/>
                        <a:t>y_hatn</a:t>
                      </a:r>
                      <a:r>
                        <a:rPr lang="es-ES" dirty="0"/>
                        <a:t>| 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335448"/>
                  </a:ext>
                </a:extLst>
              </a:tr>
              <a:tr h="2831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3903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48AE6EE-F9D9-350A-4B40-769C57038BE5}"/>
              </a:ext>
            </a:extLst>
          </p:cNvPr>
          <p:cNvSpPr txBox="1"/>
          <p:nvPr/>
        </p:nvSpPr>
        <p:spPr>
          <a:xfrm>
            <a:off x="6033856" y="5940803"/>
            <a:ext cx="977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Table:2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4FF41A-826F-3C5E-A19A-45E7747FC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146" y="1252237"/>
            <a:ext cx="5799336" cy="184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9D50-5E48-4EFD-6B64-2749EAF9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8575"/>
            <a:ext cx="12192001" cy="457376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Results(Cont.)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06452-9BF2-9FD3-79A7-0FFFC927D89D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F68F05-CAE2-A475-28F3-44CC42C614A4}"/>
              </a:ext>
            </a:extLst>
          </p:cNvPr>
          <p:cNvSpPr/>
          <p:nvPr/>
        </p:nvSpPr>
        <p:spPr>
          <a:xfrm>
            <a:off x="0" y="6620547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18/01/2026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375F2F-C5EF-95C0-9CF8-72F0062E6A42}"/>
              </a:ext>
            </a:extLst>
          </p:cNvPr>
          <p:cNvSpPr txBox="1"/>
          <p:nvPr/>
        </p:nvSpPr>
        <p:spPr>
          <a:xfrm>
            <a:off x="1152948" y="5021556"/>
            <a:ext cx="3843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Figure 4:Correlation Heatmap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E63B0-622B-FE41-22FB-4C70F7999D6A}"/>
              </a:ext>
            </a:extLst>
          </p:cNvPr>
          <p:cNvSpPr txBox="1"/>
          <p:nvPr/>
        </p:nvSpPr>
        <p:spPr>
          <a:xfrm>
            <a:off x="2591707" y="6564287"/>
            <a:ext cx="61283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79D658-CE0E-379C-9055-E1BFE167F7AF}"/>
              </a:ext>
            </a:extLst>
          </p:cNvPr>
          <p:cNvSpPr txBox="1"/>
          <p:nvPr/>
        </p:nvSpPr>
        <p:spPr>
          <a:xfrm>
            <a:off x="5914984" y="6578352"/>
            <a:ext cx="61283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32C091-8A12-ACDB-B155-5C591479EE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" y="762211"/>
            <a:ext cx="4989922" cy="4222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52" name="TextBox 4">
            <a:extLst>
              <a:ext uri="{FF2B5EF4-FFF2-40B4-BE49-F238E27FC236}">
                <a16:creationId xmlns:a16="http://schemas.microsoft.com/office/drawing/2014/main" id="{91EFB4DB-39CF-3614-C7C8-F478233695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316912"/>
              </p:ext>
            </p:extLst>
          </p:nvPr>
        </p:nvGraphicFramePr>
        <p:xfrm>
          <a:off x="5148580" y="863924"/>
          <a:ext cx="7036681" cy="5262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4370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196C-D946-87DE-3123-0E6FECB6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2EC9-4EEF-CD7E-A74C-910E15B2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8575"/>
            <a:ext cx="12192000" cy="547150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Results(Cont.)</a:t>
            </a:r>
            <a:r>
              <a:rPr lang="en-US" sz="3600" b="1" dirty="0"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C965F5-706B-EACE-743B-881D0708B6E2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FBEDC4-582B-ABC7-902F-97B70CD0D17F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12241E-4878-BC59-4718-A84C5FB5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0463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973561-B03A-51B0-3BE2-52204167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6456" y="6653120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6737F3-30E1-E616-3461-4D052192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14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A7091-58A1-15BE-05D8-C63DFA655505}"/>
              </a:ext>
            </a:extLst>
          </p:cNvPr>
          <p:cNvSpPr txBox="1"/>
          <p:nvPr/>
        </p:nvSpPr>
        <p:spPr>
          <a:xfrm>
            <a:off x="3423287" y="813467"/>
            <a:ext cx="6111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by  Different Model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67A1A2A-6C69-92C9-201C-F514282B0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1354373"/>
            <a:ext cx="4368720" cy="298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4851BE2-EB49-1ADA-F7F7-4C7676E18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785" y="1485786"/>
            <a:ext cx="3890480" cy="285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1E2799-5627-EBB5-FB35-59E36531C0A2}"/>
              </a:ext>
            </a:extLst>
          </p:cNvPr>
          <p:cNvSpPr txBox="1"/>
          <p:nvPr/>
        </p:nvSpPr>
        <p:spPr>
          <a:xfrm>
            <a:off x="162560" y="4728651"/>
            <a:ext cx="12029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Both models indicate that </a:t>
            </a:r>
            <a:r>
              <a:rPr lang="en-US" b="1" dirty="0"/>
              <a:t>"ARV Used"</a:t>
            </a:r>
            <a:r>
              <a:rPr lang="en-US" dirty="0"/>
              <a:t> is the </a:t>
            </a:r>
            <a:r>
              <a:rPr lang="en-US" b="1" dirty="0"/>
              <a:t>primary feature</a:t>
            </a:r>
            <a:r>
              <a:rPr lang="en-US" dirty="0"/>
              <a:t> for predicting rabies-related outcomes, while </a:t>
            </a:r>
            <a:r>
              <a:rPr lang="en-US" b="1" dirty="0"/>
              <a:t>"Dogs Vaccinated"</a:t>
            </a:r>
            <a:r>
              <a:rPr lang="en-US" dirty="0"/>
              <a:t> has a relatively </a:t>
            </a:r>
            <a:r>
              <a:rPr lang="en-US" b="1" dirty="0"/>
              <a:t>low influence</a:t>
            </a:r>
            <a:r>
              <a:rPr lang="en-US" dirty="0"/>
              <a:t> on the prediction.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D65EA35-EE62-8848-5860-AFE4E4F2B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06" y="1485786"/>
            <a:ext cx="3761294" cy="275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49F991-B662-FA6F-AE49-33EC2481AD29}"/>
              </a:ext>
            </a:extLst>
          </p:cNvPr>
          <p:cNvSpPr txBox="1"/>
          <p:nvPr/>
        </p:nvSpPr>
        <p:spPr>
          <a:xfrm>
            <a:off x="162979" y="5396353"/>
            <a:ext cx="11866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Both </a:t>
            </a:r>
            <a:r>
              <a:rPr lang="en-US" b="1" dirty="0"/>
              <a:t>"Number of ARV Used"</a:t>
            </a:r>
            <a:r>
              <a:rPr lang="en-US" dirty="0"/>
              <a:t> and </a:t>
            </a:r>
            <a:r>
              <a:rPr lang="en-US" b="1" dirty="0"/>
              <a:t>"Number of Dogs Vaccinated"</a:t>
            </a:r>
            <a:r>
              <a:rPr lang="en-US" dirty="0"/>
              <a:t> are important features in predicting rabies outcomes, with </a:t>
            </a:r>
            <a:r>
              <a:rPr lang="en-US" b="1" dirty="0"/>
              <a:t>ARV usage</a:t>
            </a:r>
            <a:r>
              <a:rPr lang="en-US" dirty="0"/>
              <a:t> being the more influential feature according to the </a:t>
            </a:r>
            <a:r>
              <a:rPr lang="en-US" b="1" dirty="0" err="1"/>
              <a:t>XGBoost</a:t>
            </a:r>
            <a:r>
              <a:rPr lang="en-US" dirty="0"/>
              <a:t> model. This aligns with the idea that </a:t>
            </a:r>
            <a:r>
              <a:rPr lang="en-US" b="1" dirty="0"/>
              <a:t>treatment (ARV)</a:t>
            </a:r>
            <a:r>
              <a:rPr lang="en-US" dirty="0"/>
              <a:t> and </a:t>
            </a:r>
            <a:r>
              <a:rPr lang="en-US" b="1" dirty="0"/>
              <a:t>vaccination</a:t>
            </a:r>
            <a:r>
              <a:rPr lang="en-US" dirty="0"/>
              <a:t> are crucial components of rabies control and prevention efforts.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7565E8-16BD-5874-BA6E-C6D8593A99C9}"/>
              </a:ext>
            </a:extLst>
          </p:cNvPr>
          <p:cNvSpPr txBox="1"/>
          <p:nvPr/>
        </p:nvSpPr>
        <p:spPr>
          <a:xfrm>
            <a:off x="1907540" y="4313339"/>
            <a:ext cx="988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Figure:5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4FC55-4C2C-C0E1-A131-B8FADD6FEDD3}"/>
              </a:ext>
            </a:extLst>
          </p:cNvPr>
          <p:cNvSpPr txBox="1"/>
          <p:nvPr/>
        </p:nvSpPr>
        <p:spPr>
          <a:xfrm>
            <a:off x="5989320" y="4282990"/>
            <a:ext cx="988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Figure:6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154242-0DAD-258B-A45B-70A9C9042AEC}"/>
              </a:ext>
            </a:extLst>
          </p:cNvPr>
          <p:cNvSpPr txBox="1"/>
          <p:nvPr/>
        </p:nvSpPr>
        <p:spPr>
          <a:xfrm>
            <a:off x="9984425" y="4188270"/>
            <a:ext cx="1059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Figure:</a:t>
            </a:r>
            <a:r>
              <a:rPr lang="en-US" b="1" dirty="0"/>
              <a:t>7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6561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C9CEBA4-28E9-4C85-987A-8772926A4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8575"/>
            <a:ext cx="12212320" cy="461665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Results(Cont.)</a:t>
            </a:r>
            <a:endParaRPr lang="en-US" sz="3600" b="1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33B71-CAD7-AF7B-356A-B1A2C965F28E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61CE6-25B3-842A-78ED-1E851D7C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9425"/>
            <a:ext cx="12192000" cy="2618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C14330-3C86-0671-835B-FC6E159D27E9}"/>
              </a:ext>
            </a:extLst>
          </p:cNvPr>
          <p:cNvSpPr txBox="1"/>
          <p:nvPr/>
        </p:nvSpPr>
        <p:spPr>
          <a:xfrm>
            <a:off x="71120" y="6555692"/>
            <a:ext cx="617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18/01/2026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3B33021-DF9D-E937-3063-12D5F978B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5" y="1120959"/>
            <a:ext cx="4158634" cy="233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0DE1E7-AF86-BB35-D6E5-9C6218976833}"/>
              </a:ext>
            </a:extLst>
          </p:cNvPr>
          <p:cNvSpPr txBox="1"/>
          <p:nvPr/>
        </p:nvSpPr>
        <p:spPr>
          <a:xfrm>
            <a:off x="3530600" y="651472"/>
            <a:ext cx="5654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Prediction by Different Model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660A497-B5B4-602D-0EE8-4F76C8E51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793" y="1113137"/>
            <a:ext cx="3379646" cy="233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D69001AE-8642-4C13-2D7A-2850129E9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029" y="1072298"/>
            <a:ext cx="3406440" cy="275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501FC4F1-30A8-7272-FCD6-55DFED422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5" y="3768039"/>
            <a:ext cx="4158633" cy="275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9F678AFA-D5AC-7C14-B838-F803A2B2A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683" y="3824452"/>
            <a:ext cx="3406440" cy="257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740B9229-5819-BCE5-4605-E187D46F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303" y="3611055"/>
            <a:ext cx="3453261" cy="279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AF7357-47A6-3745-D601-3CB897DD37F4}"/>
              </a:ext>
            </a:extLst>
          </p:cNvPr>
          <p:cNvSpPr txBox="1"/>
          <p:nvPr/>
        </p:nvSpPr>
        <p:spPr>
          <a:xfrm>
            <a:off x="2848170" y="6586469"/>
            <a:ext cx="6106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6F772-A239-E08D-FE88-1F5F6A442F4C}"/>
              </a:ext>
            </a:extLst>
          </p:cNvPr>
          <p:cNvSpPr txBox="1"/>
          <p:nvPr/>
        </p:nvSpPr>
        <p:spPr>
          <a:xfrm>
            <a:off x="6096000" y="6600383"/>
            <a:ext cx="6106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976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>
            <a:extLst>
              <a:ext uri="{FF2B5EF4-FFF2-40B4-BE49-F238E27FC236}">
                <a16:creationId xmlns:a16="http://schemas.microsoft.com/office/drawing/2014/main" id="{35D7E21D-8399-AF31-38DC-C771A94088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252" y="830894"/>
            <a:ext cx="4320073" cy="332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1AC7A0A-728F-A577-803A-957512A4851B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AEA93A-7D28-5872-4F76-A70C2156405D}"/>
              </a:ext>
            </a:extLst>
          </p:cNvPr>
          <p:cNvSpPr/>
          <p:nvPr/>
        </p:nvSpPr>
        <p:spPr>
          <a:xfrm>
            <a:off x="0" y="6597187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7F5CD1-60B9-4D82-C22D-FFB6C4BA3303}"/>
              </a:ext>
            </a:extLst>
          </p:cNvPr>
          <p:cNvSpPr txBox="1">
            <a:spLocks/>
          </p:cNvSpPr>
          <p:nvPr/>
        </p:nvSpPr>
        <p:spPr>
          <a:xfrm>
            <a:off x="0" y="248575"/>
            <a:ext cx="1221232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Results(Cont.)</a:t>
            </a:r>
            <a:endParaRPr lang="en-US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00FE26-A396-8871-066D-F8D0794C37FA}"/>
              </a:ext>
            </a:extLst>
          </p:cNvPr>
          <p:cNvSpPr txBox="1"/>
          <p:nvPr/>
        </p:nvSpPr>
        <p:spPr>
          <a:xfrm>
            <a:off x="46653" y="4277854"/>
            <a:ext cx="11952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model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Rabies Cases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with varying degrees of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models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seem to provide a closer match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others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 further adjustments to improve performance.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2BFB1-521A-8836-15F5-8F80506024E2}"/>
              </a:ext>
            </a:extLst>
          </p:cNvPr>
          <p:cNvSpPr txBox="1"/>
          <p:nvPr/>
        </p:nvSpPr>
        <p:spPr>
          <a:xfrm>
            <a:off x="65651" y="5299021"/>
            <a:ext cx="120606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SVR model</a:t>
            </a:r>
            <a:r>
              <a:rPr lang="en-US" dirty="0"/>
              <a:t> is not performing well in this case and may need improvements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Hyperparameter tuning (e.g., kernel, C, epsilon)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Trying other models like </a:t>
            </a:r>
            <a:r>
              <a:rPr lang="en-US" b="1" dirty="0"/>
              <a:t>Random Forest</a:t>
            </a:r>
            <a:r>
              <a:rPr lang="en-US" dirty="0"/>
              <a:t>, </a:t>
            </a:r>
            <a:r>
              <a:rPr lang="en-US" b="1" dirty="0" err="1"/>
              <a:t>XGBoost</a:t>
            </a:r>
            <a:r>
              <a:rPr lang="en-US" dirty="0"/>
              <a:t>, or </a:t>
            </a:r>
            <a:r>
              <a:rPr lang="en-US" b="1" dirty="0" err="1"/>
              <a:t>LightGBM</a:t>
            </a:r>
            <a:r>
              <a:rPr lang="en-US" dirty="0"/>
              <a:t>, which might better capture the underlying patterns in the data.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D95D4E-91A1-822E-7F6F-D42313598FCB}"/>
              </a:ext>
            </a:extLst>
          </p:cNvPr>
          <p:cNvSpPr txBox="1"/>
          <p:nvPr/>
        </p:nvSpPr>
        <p:spPr>
          <a:xfrm>
            <a:off x="71120" y="6555692"/>
            <a:ext cx="6177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18/01/2026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657787-3C6C-F218-1788-66026DB17C40}"/>
              </a:ext>
            </a:extLst>
          </p:cNvPr>
          <p:cNvSpPr txBox="1"/>
          <p:nvPr/>
        </p:nvSpPr>
        <p:spPr>
          <a:xfrm>
            <a:off x="2969468" y="6524914"/>
            <a:ext cx="610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CA3247-F31F-0A97-D1A5-13BC45DDE5E8}"/>
              </a:ext>
            </a:extLst>
          </p:cNvPr>
          <p:cNvSpPr txBox="1"/>
          <p:nvPr/>
        </p:nvSpPr>
        <p:spPr>
          <a:xfrm>
            <a:off x="11552879" y="6555692"/>
            <a:ext cx="1136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9B618960-8005-486C-9A75-10CB2AAC16F9}" type="slidenum">
              <a:rPr lang="en-US" sz="1800" smtClean="0">
                <a:solidFill>
                  <a:schemeClr val="bg1"/>
                </a:solidFill>
              </a:rPr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01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9CF31CD-B41E-C7AB-991C-302D868A59D6}"/>
              </a:ext>
            </a:extLst>
          </p:cNvPr>
          <p:cNvSpPr txBox="1">
            <a:spLocks/>
          </p:cNvSpPr>
          <p:nvPr/>
        </p:nvSpPr>
        <p:spPr>
          <a:xfrm>
            <a:off x="0" y="273051"/>
            <a:ext cx="1221232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Results(Cont.)</a:t>
            </a:r>
            <a:endParaRPr lang="en-US" sz="3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53682-1C58-8A02-9FAB-EB96A12AACBC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7E50DE-210D-B35D-156B-A24228878281}"/>
              </a:ext>
            </a:extLst>
          </p:cNvPr>
          <p:cNvSpPr/>
          <p:nvPr/>
        </p:nvSpPr>
        <p:spPr>
          <a:xfrm>
            <a:off x="0" y="6597187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Rabies Virus Prediction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2ED8A-A995-F45C-895A-479FDE3ABB97}"/>
              </a:ext>
            </a:extLst>
          </p:cNvPr>
          <p:cNvSpPr txBox="1"/>
          <p:nvPr/>
        </p:nvSpPr>
        <p:spPr>
          <a:xfrm>
            <a:off x="135439" y="6536808"/>
            <a:ext cx="1338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18/01/2026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0B6301-15BE-2BEA-71D1-5D50CCE33E71}"/>
              </a:ext>
            </a:extLst>
          </p:cNvPr>
          <p:cNvSpPr txBox="1"/>
          <p:nvPr/>
        </p:nvSpPr>
        <p:spPr>
          <a:xfrm>
            <a:off x="11642661" y="6536808"/>
            <a:ext cx="1098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9B618960-8005-486C-9A75-10CB2AAC16F9}" type="slidenum">
              <a:rPr lang="en-US" sz="1800" smtClean="0">
                <a:solidFill>
                  <a:schemeClr val="bg1"/>
                </a:solidFill>
              </a:rPr>
              <a:pPr/>
              <a:t>17</a:t>
            </a:fld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E4F0A5C-E394-EFC7-9C67-4702C822F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356540"/>
              </p:ext>
            </p:extLst>
          </p:nvPr>
        </p:nvGraphicFramePr>
        <p:xfrm>
          <a:off x="502297" y="991498"/>
          <a:ext cx="10946364" cy="4875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8788">
                  <a:extLst>
                    <a:ext uri="{9D8B030D-6E8A-4147-A177-3AD203B41FA5}">
                      <a16:colId xmlns:a16="http://schemas.microsoft.com/office/drawing/2014/main" val="2341763181"/>
                    </a:ext>
                  </a:extLst>
                </a:gridCol>
                <a:gridCol w="3648788">
                  <a:extLst>
                    <a:ext uri="{9D8B030D-6E8A-4147-A177-3AD203B41FA5}">
                      <a16:colId xmlns:a16="http://schemas.microsoft.com/office/drawing/2014/main" val="652546809"/>
                    </a:ext>
                  </a:extLst>
                </a:gridCol>
                <a:gridCol w="3648788">
                  <a:extLst>
                    <a:ext uri="{9D8B030D-6E8A-4147-A177-3AD203B41FA5}">
                      <a16:colId xmlns:a16="http://schemas.microsoft.com/office/drawing/2014/main" val="1184982225"/>
                    </a:ext>
                  </a:extLst>
                </a:gridCol>
              </a:tblGrid>
              <a:tr h="3327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Model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Hyperparameter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What it does (very easy)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7050719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Linear Regression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None (default)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Fits a simple straight line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2539320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Ridge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alpha = 1.0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Controls penalty strength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2551443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Lasso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alpha = 0.1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Controls feature shrinking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7660911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Decision Tree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random_state = 42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Keeps result reproducible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1737407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Random Forest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n_estimators = 100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Uses 100 trees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13001823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random_state = 42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Same output every run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5370073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SVR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kernel = 'rbf'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Captures non-linear patterns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0574704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XGBoost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n_estimators = 100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Uses 100 boosted trees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7956337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objective = 'reg:squarederror'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Regression with MSE loss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61937797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random_state = 42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Stable results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3820563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LightGBM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n_estimators = 100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Uses 100 boosting rounds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6435931"/>
                  </a:ext>
                </a:extLst>
              </a:tr>
              <a:tr h="3785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random_state = 42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</a:rPr>
                        <a:t>Reproducible training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226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054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6815"/>
            <a:ext cx="12192000" cy="527311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/ Thesis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35610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4204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18</a:t>
            </a:fld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357548"/>
              </p:ext>
            </p:extLst>
          </p:nvPr>
        </p:nvGraphicFramePr>
        <p:xfrm>
          <a:off x="76940" y="1350469"/>
          <a:ext cx="12038120" cy="4290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493">
                  <a:extLst>
                    <a:ext uri="{9D8B030D-6E8A-4147-A177-3AD203B41FA5}">
                      <a16:colId xmlns:a16="http://schemas.microsoft.com/office/drawing/2014/main" val="97618953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3415946144"/>
                    </a:ext>
                  </a:extLst>
                </a:gridCol>
                <a:gridCol w="323600">
                  <a:extLst>
                    <a:ext uri="{9D8B030D-6E8A-4147-A177-3AD203B41FA5}">
                      <a16:colId xmlns:a16="http://schemas.microsoft.com/office/drawing/2014/main" val="134360220"/>
                    </a:ext>
                  </a:extLst>
                </a:gridCol>
                <a:gridCol w="349837">
                  <a:extLst>
                    <a:ext uri="{9D8B030D-6E8A-4147-A177-3AD203B41FA5}">
                      <a16:colId xmlns:a16="http://schemas.microsoft.com/office/drawing/2014/main" val="222954402"/>
                    </a:ext>
                  </a:extLst>
                </a:gridCol>
                <a:gridCol w="297360">
                  <a:extLst>
                    <a:ext uri="{9D8B030D-6E8A-4147-A177-3AD203B41FA5}">
                      <a16:colId xmlns:a16="http://schemas.microsoft.com/office/drawing/2014/main" val="3862323805"/>
                    </a:ext>
                  </a:extLst>
                </a:gridCol>
                <a:gridCol w="323600">
                  <a:extLst>
                    <a:ext uri="{9D8B030D-6E8A-4147-A177-3AD203B41FA5}">
                      <a16:colId xmlns:a16="http://schemas.microsoft.com/office/drawing/2014/main" val="1563811387"/>
                    </a:ext>
                  </a:extLst>
                </a:gridCol>
                <a:gridCol w="341091">
                  <a:extLst>
                    <a:ext uri="{9D8B030D-6E8A-4147-A177-3AD203B41FA5}">
                      <a16:colId xmlns:a16="http://schemas.microsoft.com/office/drawing/2014/main" val="268704649"/>
                    </a:ext>
                  </a:extLst>
                </a:gridCol>
                <a:gridCol w="341091">
                  <a:extLst>
                    <a:ext uri="{9D8B030D-6E8A-4147-A177-3AD203B41FA5}">
                      <a16:colId xmlns:a16="http://schemas.microsoft.com/office/drawing/2014/main" val="2159050952"/>
                    </a:ext>
                  </a:extLst>
                </a:gridCol>
                <a:gridCol w="349837">
                  <a:extLst>
                    <a:ext uri="{9D8B030D-6E8A-4147-A177-3AD203B41FA5}">
                      <a16:colId xmlns:a16="http://schemas.microsoft.com/office/drawing/2014/main" val="3628597504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1953595914"/>
                    </a:ext>
                  </a:extLst>
                </a:gridCol>
                <a:gridCol w="419804">
                  <a:extLst>
                    <a:ext uri="{9D8B030D-6E8A-4147-A177-3AD203B41FA5}">
                      <a16:colId xmlns:a16="http://schemas.microsoft.com/office/drawing/2014/main" val="2241673527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4120137107"/>
                    </a:ext>
                  </a:extLst>
                </a:gridCol>
                <a:gridCol w="349837">
                  <a:extLst>
                    <a:ext uri="{9D8B030D-6E8A-4147-A177-3AD203B41FA5}">
                      <a16:colId xmlns:a16="http://schemas.microsoft.com/office/drawing/2014/main" val="3417218993"/>
                    </a:ext>
                  </a:extLst>
                </a:gridCol>
                <a:gridCol w="402313">
                  <a:extLst>
                    <a:ext uri="{9D8B030D-6E8A-4147-A177-3AD203B41FA5}">
                      <a16:colId xmlns:a16="http://schemas.microsoft.com/office/drawing/2014/main" val="4289440314"/>
                    </a:ext>
                  </a:extLst>
                </a:gridCol>
                <a:gridCol w="367329">
                  <a:extLst>
                    <a:ext uri="{9D8B030D-6E8A-4147-A177-3AD203B41FA5}">
                      <a16:colId xmlns:a16="http://schemas.microsoft.com/office/drawing/2014/main" val="1009260641"/>
                    </a:ext>
                  </a:extLst>
                </a:gridCol>
                <a:gridCol w="376074">
                  <a:extLst>
                    <a:ext uri="{9D8B030D-6E8A-4147-A177-3AD203B41FA5}">
                      <a16:colId xmlns:a16="http://schemas.microsoft.com/office/drawing/2014/main" val="3098823414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1552569790"/>
                    </a:ext>
                  </a:extLst>
                </a:gridCol>
                <a:gridCol w="376074">
                  <a:extLst>
                    <a:ext uri="{9D8B030D-6E8A-4147-A177-3AD203B41FA5}">
                      <a16:colId xmlns:a16="http://schemas.microsoft.com/office/drawing/2014/main" val="3119090962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293863623"/>
                    </a:ext>
                  </a:extLst>
                </a:gridCol>
                <a:gridCol w="367329">
                  <a:extLst>
                    <a:ext uri="{9D8B030D-6E8A-4147-A177-3AD203B41FA5}">
                      <a16:colId xmlns:a16="http://schemas.microsoft.com/office/drawing/2014/main" val="1400127061"/>
                    </a:ext>
                  </a:extLst>
                </a:gridCol>
                <a:gridCol w="349836">
                  <a:extLst>
                    <a:ext uri="{9D8B030D-6E8A-4147-A177-3AD203B41FA5}">
                      <a16:colId xmlns:a16="http://schemas.microsoft.com/office/drawing/2014/main" val="163690829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2556424844"/>
                    </a:ext>
                  </a:extLst>
                </a:gridCol>
                <a:gridCol w="367329">
                  <a:extLst>
                    <a:ext uri="{9D8B030D-6E8A-4147-A177-3AD203B41FA5}">
                      <a16:colId xmlns:a16="http://schemas.microsoft.com/office/drawing/2014/main" val="23036354"/>
                    </a:ext>
                  </a:extLst>
                </a:gridCol>
                <a:gridCol w="384820">
                  <a:extLst>
                    <a:ext uri="{9D8B030D-6E8A-4147-A177-3AD203B41FA5}">
                      <a16:colId xmlns:a16="http://schemas.microsoft.com/office/drawing/2014/main" val="1755425955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3778666643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2725052436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455342623"/>
                    </a:ext>
                  </a:extLst>
                </a:gridCol>
                <a:gridCol w="361215">
                  <a:extLst>
                    <a:ext uri="{9D8B030D-6E8A-4147-A177-3AD203B41FA5}">
                      <a16:colId xmlns:a16="http://schemas.microsoft.com/office/drawing/2014/main" val="2585916169"/>
                    </a:ext>
                  </a:extLst>
                </a:gridCol>
              </a:tblGrid>
              <a:tr h="469085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Topic</a:t>
                      </a:r>
                    </a:p>
                  </a:txBody>
                  <a:tcPr anchor="ctr"/>
                </a:tc>
                <a:tc gridSpan="27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Semester Weeks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78836"/>
                  </a:ext>
                </a:extLst>
              </a:tr>
              <a:tr h="469085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372889"/>
                  </a:ext>
                </a:extLst>
              </a:tr>
              <a:tr h="359173">
                <a:tc>
                  <a:txBody>
                    <a:bodyPr/>
                    <a:lstStyle/>
                    <a:p>
                      <a:r>
                        <a:rPr lang="en-US" sz="1600" dirty="0"/>
                        <a:t>Research</a:t>
                      </a:r>
                      <a:r>
                        <a:rPr lang="en-US" sz="1600" baseline="0" dirty="0"/>
                        <a:t> Topic Selection</a:t>
                      </a:r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735486"/>
                  </a:ext>
                </a:extLst>
              </a:tr>
              <a:tr h="469085">
                <a:tc>
                  <a:txBody>
                    <a:bodyPr/>
                    <a:lstStyle/>
                    <a:p>
                      <a:r>
                        <a:rPr lang="en-US" sz="1600" dirty="0"/>
                        <a:t>Background &amp; Related</a:t>
                      </a:r>
                      <a:r>
                        <a:rPr lang="en-US" sz="1600" baseline="0" dirty="0"/>
                        <a:t> Works Study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72771"/>
                  </a:ext>
                </a:extLst>
              </a:tr>
              <a:tr h="345626">
                <a:tc>
                  <a:txBody>
                    <a:bodyPr/>
                    <a:lstStyle/>
                    <a:p>
                      <a:r>
                        <a:rPr lang="en-US" sz="1600" dirty="0"/>
                        <a:t>Objective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567143"/>
                  </a:ext>
                </a:extLst>
              </a:tr>
              <a:tr h="447690">
                <a:tc>
                  <a:txBody>
                    <a:bodyPr/>
                    <a:lstStyle/>
                    <a:p>
                      <a:r>
                        <a:rPr lang="en-US" sz="1600" dirty="0"/>
                        <a:t>Methodology Determination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379796"/>
                  </a:ext>
                </a:extLst>
              </a:tr>
              <a:tr h="323612">
                <a:tc>
                  <a:txBody>
                    <a:bodyPr/>
                    <a:lstStyle/>
                    <a:p>
                      <a:r>
                        <a:rPr lang="en-US" sz="1600" dirty="0"/>
                        <a:t>Dataset Gathering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7383"/>
                  </a:ext>
                </a:extLst>
              </a:tr>
              <a:tr h="330386">
                <a:tc>
                  <a:txBody>
                    <a:bodyPr/>
                    <a:lstStyle/>
                    <a:p>
                      <a:r>
                        <a:rPr lang="en-US" sz="1600" dirty="0"/>
                        <a:t>Model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72390"/>
                  </a:ext>
                </a:extLst>
              </a:tr>
              <a:tr h="345626">
                <a:tc>
                  <a:txBody>
                    <a:bodyPr/>
                    <a:lstStyle/>
                    <a:p>
                      <a:r>
                        <a:rPr lang="en-US" sz="1600" dirty="0"/>
                        <a:t>Model Testing &amp;</a:t>
                      </a:r>
                      <a:r>
                        <a:rPr lang="en-US" sz="1600" baseline="0" dirty="0"/>
                        <a:t> Tuning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46823"/>
                  </a:ext>
                </a:extLst>
              </a:tr>
              <a:tr h="345626">
                <a:tc>
                  <a:txBody>
                    <a:bodyPr/>
                    <a:lstStyle/>
                    <a:p>
                      <a:r>
                        <a:rPr lang="en-US" sz="1600" dirty="0"/>
                        <a:t>Report / Book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15252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4303" y="6165229"/>
            <a:ext cx="9623394" cy="38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</a:t>
            </a:r>
            <a:r>
              <a:rPr lang="en-US" dirty="0"/>
              <a:t> 4: Gantt chart for project / thesis timeline </a:t>
            </a:r>
          </a:p>
        </p:txBody>
      </p:sp>
    </p:spTree>
    <p:extLst>
      <p:ext uri="{BB962C8B-B14F-4D97-AF65-F5344CB8AC3E}">
        <p14:creationId xmlns:p14="http://schemas.microsoft.com/office/powerpoint/2010/main" val="1336809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563732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35611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29145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19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C38FDA2-C427-50FE-6F3B-3FDE5647F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380" y="968890"/>
            <a:ext cx="11922680" cy="4237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 and structured time-series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rabies prediction was developed and analyzed.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Multiple machine learning models were implemented and compared using standard evaluation metrics (MSE, RMSE, MAE,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MedianAE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Random Forest and LSTM models achieved the best predictive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system can predict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both past (back-testing) and future rabies cases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a universal prediction function.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analysis highlighted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 of dog vaccination and ARV usage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reducing human rabies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can assist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health authorities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decision-making and rabies control strategies.</a:t>
            </a:r>
          </a:p>
        </p:txBody>
      </p:sp>
    </p:spTree>
    <p:extLst>
      <p:ext uri="{BB962C8B-B14F-4D97-AF65-F5344CB8AC3E}">
        <p14:creationId xmlns:p14="http://schemas.microsoft.com/office/powerpoint/2010/main" val="3824225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6995"/>
            <a:ext cx="12192000" cy="792586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Roles and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1032322"/>
            <a:ext cx="11947109" cy="543560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Abdullah Al Fahad</a:t>
            </a:r>
            <a:r>
              <a:rPr lang="en-US" dirty="0"/>
              <a:t>: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Report Writing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Turas Tasnim Aroni</a:t>
            </a:r>
            <a:r>
              <a:rPr lang="en-US" dirty="0"/>
              <a:t>:</a:t>
            </a:r>
          </a:p>
          <a:p>
            <a:r>
              <a:rPr lang="en-US" dirty="0"/>
              <a:t>Model Development</a:t>
            </a:r>
          </a:p>
          <a:p>
            <a:r>
              <a:rPr lang="en-US" dirty="0"/>
              <a:t>Evolution &amp; Visualization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Collaboration Works</a:t>
            </a:r>
            <a:r>
              <a:rPr lang="en-US" dirty="0"/>
              <a:t>: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Presentation Design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14850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29145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20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845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48575"/>
            <a:ext cx="12038120" cy="494959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992109"/>
            <a:ext cx="12038120" cy="5435605"/>
          </a:xfrm>
        </p:spPr>
        <p:txBody>
          <a:bodyPr/>
          <a:lstStyle/>
          <a:p>
            <a:pPr lvl="0"/>
            <a:r>
              <a:rPr lang="en-US" dirty="0"/>
              <a:t>This study successfully demonstrated the application of machine learning techniques for predicting </a:t>
            </a:r>
            <a:r>
              <a:rPr lang="en-US" b="1" dirty="0"/>
              <a:t>human rabies cases</a:t>
            </a:r>
            <a:r>
              <a:rPr lang="en-US" dirty="0"/>
              <a:t> using time-series data. </a:t>
            </a:r>
          </a:p>
          <a:p>
            <a:pPr lvl="0"/>
            <a:r>
              <a:rPr lang="en-US" dirty="0"/>
              <a:t>By incorporating temporal factors, dog vaccination coverage, and anti-rabies vaccine (ARV) usage, the proposed models were able to learn meaningful patterns related to rabies transmission and control. Among the evaluated models, </a:t>
            </a:r>
            <a:r>
              <a:rPr lang="en-US" b="1" dirty="0"/>
              <a:t>Random Forest and </a:t>
            </a:r>
            <a:r>
              <a:rPr lang="en-US" b="1" dirty="0" err="1"/>
              <a:t>XGBoost</a:t>
            </a:r>
            <a:r>
              <a:rPr lang="en-US" b="1" dirty="0"/>
              <a:t> </a:t>
            </a:r>
            <a:r>
              <a:rPr lang="en-US" dirty="0"/>
              <a:t>showed superior performance compared to traditional approaches, indicating their suitability for rabies case prediction.</a:t>
            </a:r>
          </a:p>
          <a:p>
            <a:pPr lvl="0"/>
            <a:r>
              <a:rPr lang="en-US" dirty="0"/>
              <a:t> The results confirm that machine learning can be an effective tool to support rabies surveillance and prevention planning.</a:t>
            </a:r>
          </a:p>
          <a:p>
            <a:pPr lvl="0"/>
            <a:r>
              <a:rPr lang="en-US" dirty="0"/>
              <a:t>Dataset not that much </a:t>
            </a:r>
            <a:r>
              <a:rPr lang="en-US" dirty="0" err="1"/>
              <a:t>bigError</a:t>
            </a:r>
            <a:r>
              <a:rPr lang="en-US" dirty="0"/>
              <a:t> could be still be reduced.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497057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62356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21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03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679687"/>
          </a:xfr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979056"/>
            <a:ext cx="12115060" cy="55605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a-DK" sz="2400" i="1" dirty="0"/>
              <a:t>Details of the NOS (oh et al., 2023; roderburg et al., 2021; Kurita et al., 2017; Musicco et al., 2013; Jørgensen et al., 2012; Khan et al., 2011; Baxter et al., 2009; ren et al., 2022; Valentine et al., 2022; Ording et al., 2019; Heun et al., 2013; OU et al., 2013; attner et al., 2010).</a:t>
            </a:r>
            <a:r>
              <a:rPr lang="da-DK" sz="2400" dirty="0"/>
              <a:t> [Preprint]. doi:10.7717/peerj.18888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Ding, Q., Wang, C., Wang, H., Xiang, C., Wang, Z., Wang, Y., ... &amp; Kim, J. S. (2025). Rabies Virus Targeting NIR-II </a:t>
            </a:r>
            <a:r>
              <a:rPr lang="en-US" sz="2400" dirty="0" err="1"/>
              <a:t>Phototheranostics</a:t>
            </a:r>
            <a:r>
              <a:rPr lang="en-US" sz="2400" dirty="0"/>
              <a:t>. </a:t>
            </a:r>
            <a:r>
              <a:rPr lang="en-US" sz="2400" i="1" dirty="0"/>
              <a:t>Journal of the American Chemical Society</a:t>
            </a:r>
            <a:r>
              <a:rPr lang="en-US" sz="2400" dirty="0"/>
              <a:t>, </a:t>
            </a:r>
            <a:r>
              <a:rPr lang="en-US" sz="2400" i="1" dirty="0"/>
              <a:t>147</a:t>
            </a:r>
            <a:r>
              <a:rPr lang="en-US" sz="2400" dirty="0"/>
              <a:t>(19), 16661-16673.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i="1" dirty="0"/>
              <a:t>Regional flagship priorities of WHO South-East Asia: Fostering efficiency in public health - the Lancet regional health - Southeast Asia</a:t>
            </a:r>
            <a:r>
              <a:rPr lang="en-US" sz="2400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Charles et al., V. Orange County, New York, et al’ (no date) </a:t>
            </a:r>
            <a:r>
              <a:rPr lang="en-US" sz="2400" i="1" dirty="0" err="1"/>
              <a:t>PsycEXTRA</a:t>
            </a:r>
            <a:r>
              <a:rPr lang="en-US" sz="2400" i="1" dirty="0"/>
              <a:t> Dataset</a:t>
            </a:r>
            <a:r>
              <a:rPr lang="en-US" sz="2400" dirty="0"/>
              <a:t> [Preprint]. doi:10.1037/e503482018-001.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Parker, C.T., Taylor, D. and Garrity, G.M. (2010) ‘Exemplar abstract for </a:t>
            </a:r>
            <a:r>
              <a:rPr lang="en-US" sz="2400" dirty="0" err="1"/>
              <a:t>Psychrobacillus</a:t>
            </a:r>
            <a:r>
              <a:rPr lang="en-US" sz="2400" dirty="0"/>
              <a:t> </a:t>
            </a:r>
            <a:r>
              <a:rPr lang="en-US" sz="2400" dirty="0" err="1"/>
              <a:t>Psychrotolerans</a:t>
            </a:r>
            <a:r>
              <a:rPr lang="en-US" sz="2400" dirty="0"/>
              <a:t> (Abd </a:t>
            </a:r>
            <a:r>
              <a:rPr lang="en-US" sz="2400" dirty="0" err="1"/>
              <a:t>el</a:t>
            </a:r>
            <a:r>
              <a:rPr lang="en-US" sz="2400" dirty="0"/>
              <a:t>-Rahman et al. 2002) </a:t>
            </a:r>
            <a:r>
              <a:rPr lang="en-US" sz="2400" dirty="0" err="1"/>
              <a:t>krishnamurthi</a:t>
            </a:r>
            <a:r>
              <a:rPr lang="en-US" sz="2400" dirty="0"/>
              <a:t> et al. 2011 and bacillus </a:t>
            </a:r>
            <a:r>
              <a:rPr lang="en-US" sz="2400" dirty="0" err="1"/>
              <a:t>psychrotolerans</a:t>
            </a:r>
            <a:r>
              <a:rPr lang="en-US" sz="2400" dirty="0"/>
              <a:t> Abd </a:t>
            </a:r>
            <a:r>
              <a:rPr lang="en-US" sz="2400" dirty="0" err="1"/>
              <a:t>el</a:t>
            </a:r>
            <a:r>
              <a:rPr lang="en-US" sz="2400" dirty="0"/>
              <a:t>-Rahman et al. 2002.’, </a:t>
            </a:r>
            <a:r>
              <a:rPr lang="en-US" sz="2400" i="1" dirty="0"/>
              <a:t>The </a:t>
            </a:r>
            <a:r>
              <a:rPr lang="en-US" sz="2400" i="1" dirty="0" err="1"/>
              <a:t>NamesforLife</a:t>
            </a:r>
            <a:r>
              <a:rPr lang="en-US" sz="2400" i="1" dirty="0"/>
              <a:t> Abstracts</a:t>
            </a:r>
            <a:r>
              <a:rPr lang="en-US" sz="2400" dirty="0"/>
              <a:t> [Preprint]. doi:10.1601/ex.4970. </a:t>
            </a:r>
          </a:p>
          <a:p>
            <a:endParaRPr lang="en-US" sz="2000" dirty="0"/>
          </a:p>
          <a:p>
            <a:endParaRPr lang="de-DE" sz="20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86409"/>
            <a:ext cx="12192000" cy="27159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0" y="6539641"/>
            <a:ext cx="1120448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18/01/2026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643883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E7E6E6"/>
                </a:solidFill>
              </a:rPr>
              <a:t>Rabies Virus Prediction</a:t>
            </a:r>
            <a:endParaRPr lang="en-US" sz="1400" dirty="0">
              <a:solidFill>
                <a:srgbClr val="E7E6E6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371860" y="6561747"/>
            <a:ext cx="2743200" cy="320912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</a:rPr>
              <a:t>22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157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D55FC0-A8DA-2D07-E117-5A4FCB436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" y="1999553"/>
            <a:ext cx="7125016" cy="285889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540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4709</TotalTime>
  <Words>2356</Words>
  <Application>Microsoft Office PowerPoint</Application>
  <PresentationFormat>Widescreen</PresentationFormat>
  <Paragraphs>419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Narrow</vt:lpstr>
      <vt:lpstr>Calibri</vt:lpstr>
      <vt:lpstr>Calibri Light</vt:lpstr>
      <vt:lpstr>Sanskrit Text</vt:lpstr>
      <vt:lpstr>Times New Roman</vt:lpstr>
      <vt:lpstr>Wingdings</vt:lpstr>
      <vt:lpstr>Office Theme</vt:lpstr>
      <vt:lpstr>Bangladesh Army University of Science and Technology (BAUST) Saidpur Cantonment, Nilphamari</vt:lpstr>
      <vt:lpstr>Outline</vt:lpstr>
      <vt:lpstr>Introduction</vt:lpstr>
      <vt:lpstr>Problem Statement</vt:lpstr>
      <vt:lpstr>Related Works</vt:lpstr>
      <vt:lpstr>  Related Works</vt:lpstr>
      <vt:lpstr>Objectives</vt:lpstr>
      <vt:lpstr>Proposed Methodology</vt:lpstr>
      <vt:lpstr>Dataset Overview</vt:lpstr>
      <vt:lpstr>Dataset Overview (Cont.)</vt:lpstr>
      <vt:lpstr>Dataset Overview (Cont.)</vt:lpstr>
      <vt:lpstr>Results </vt:lpstr>
      <vt:lpstr> Results(Cont.) </vt:lpstr>
      <vt:lpstr>Results(Cont.) </vt:lpstr>
      <vt:lpstr>PowerPoint Presentation</vt:lpstr>
      <vt:lpstr>PowerPoint Presentation</vt:lpstr>
      <vt:lpstr>PowerPoint Presentation</vt:lpstr>
      <vt:lpstr>Project / Thesis Timeline</vt:lpstr>
      <vt:lpstr> Outcomes</vt:lpstr>
      <vt:lpstr>Team Roles and Contributions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Asus</dc:creator>
  <cp:lastModifiedBy>Abdullah Al Fahad Anik</cp:lastModifiedBy>
  <cp:revision>147</cp:revision>
  <dcterms:created xsi:type="dcterms:W3CDTF">2025-04-30T05:35:28Z</dcterms:created>
  <dcterms:modified xsi:type="dcterms:W3CDTF">2026-01-23T08:47:05Z</dcterms:modified>
</cp:coreProperties>
</file>